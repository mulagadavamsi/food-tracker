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4" r:id="rId1"/>
  </p:sldMasterIdLst>
  <p:notesMasterIdLst>
    <p:notesMasterId r:id="rId20"/>
  </p:notesMasterIdLst>
  <p:sldIdLst>
    <p:sldId id="268" r:id="rId2"/>
    <p:sldId id="270" r:id="rId3"/>
    <p:sldId id="271" r:id="rId4"/>
    <p:sldId id="273" r:id="rId5"/>
    <p:sldId id="256" r:id="rId6"/>
    <p:sldId id="257" r:id="rId7"/>
    <p:sldId id="258" r:id="rId8"/>
    <p:sldId id="259" r:id="rId9"/>
    <p:sldId id="262" r:id="rId10"/>
    <p:sldId id="263" r:id="rId11"/>
    <p:sldId id="264" r:id="rId12"/>
    <p:sldId id="265" r:id="rId13"/>
    <p:sldId id="266" r:id="rId14"/>
    <p:sldId id="267" r:id="rId15"/>
    <p:sldId id="269" r:id="rId16"/>
    <p:sldId id="260" r:id="rId17"/>
    <p:sldId id="261" r:id="rId18"/>
    <p:sldId id="274"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FA2EEC-EE86-48D7-8520-59345E4A113E}" type="datetimeFigureOut">
              <a:rPr lang="en-IN" smtClean="0"/>
              <a:t>30-08-2025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450111-D3CB-4477-A4BF-0F527888F4E4}" type="slidenum">
              <a:rPr lang="en-IN" smtClean="0"/>
              <a:t>‹#›</a:t>
            </a:fld>
            <a:endParaRPr lang="en-IN"/>
          </a:p>
        </p:txBody>
      </p:sp>
    </p:spTree>
    <p:extLst>
      <p:ext uri="{BB962C8B-B14F-4D97-AF65-F5344CB8AC3E}">
        <p14:creationId xmlns:p14="http://schemas.microsoft.com/office/powerpoint/2010/main" val="37982058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450111-D3CB-4477-A4BF-0F527888F4E4}" type="slidenum">
              <a:rPr lang="en-IN" smtClean="0"/>
              <a:t>3</a:t>
            </a:fld>
            <a:endParaRPr lang="en-IN"/>
          </a:p>
        </p:txBody>
      </p:sp>
    </p:spTree>
    <p:extLst>
      <p:ext uri="{BB962C8B-B14F-4D97-AF65-F5344CB8AC3E}">
        <p14:creationId xmlns:p14="http://schemas.microsoft.com/office/powerpoint/2010/main" val="9508717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ctrTitle"/>
          </p:nvPr>
        </p:nvSpPr>
        <p:spPr>
          <a:xfrm>
            <a:off x="914400" y="1803405"/>
            <a:ext cx="7315200" cy="1825096"/>
          </a:xfrm>
        </p:spPr>
        <p:txBody>
          <a:bodyPr anchor="b">
            <a:normAutofit/>
          </a:bodyPr>
          <a:lstStyle>
            <a:lvl1pPr algn="l">
              <a:defRPr sz="6000"/>
            </a:lvl1pPr>
          </a:lstStyle>
          <a:p>
            <a:r>
              <a:rPr lang="en-GB"/>
              <a:t>Click to edit Master title style</a:t>
            </a:r>
            <a:endParaRPr lang="en-US" dirty="0"/>
          </a:p>
        </p:txBody>
      </p:sp>
      <p:sp>
        <p:nvSpPr>
          <p:cNvPr id="3" name="Subtitle 2"/>
          <p:cNvSpPr>
            <a:spLocks noGrp="1"/>
          </p:cNvSpPr>
          <p:nvPr>
            <p:ph type="subTitle" idx="1"/>
          </p:nvPr>
        </p:nvSpPr>
        <p:spPr>
          <a:xfrm>
            <a:off x="914400" y="3632201"/>
            <a:ext cx="73152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5932170" y="4323845"/>
            <a:ext cx="2297429" cy="365125"/>
          </a:xfrm>
        </p:spPr>
        <p:txBody>
          <a:bodyPr/>
          <a:lstStyle/>
          <a:p>
            <a:fld id="{5BCAD085-E8A6-8845-BD4E-CB4CCA059FC4}" type="datetimeFigureOut">
              <a:rPr lang="en-US" smtClean="0"/>
              <a:t>8/30/2025</a:t>
            </a:fld>
            <a:endParaRPr lang="en-US"/>
          </a:p>
        </p:txBody>
      </p:sp>
      <p:sp>
        <p:nvSpPr>
          <p:cNvPr id="5" name="Footer Placeholder 4"/>
          <p:cNvSpPr>
            <a:spLocks noGrp="1"/>
          </p:cNvSpPr>
          <p:nvPr>
            <p:ph type="ftr" sz="quarter" idx="11"/>
          </p:nvPr>
        </p:nvSpPr>
        <p:spPr>
          <a:xfrm>
            <a:off x="914400" y="4323846"/>
            <a:ext cx="4880610" cy="365125"/>
          </a:xfrm>
        </p:spPr>
        <p:txBody>
          <a:bodyPr/>
          <a:lstStyle/>
          <a:p>
            <a:endParaRPr lang="en-US"/>
          </a:p>
        </p:txBody>
      </p:sp>
      <p:sp>
        <p:nvSpPr>
          <p:cNvPr id="6" name="Slide Number Placeholder 5"/>
          <p:cNvSpPr>
            <a:spLocks noGrp="1"/>
          </p:cNvSpPr>
          <p:nvPr>
            <p:ph type="sldNum" sz="quarter" idx="12"/>
          </p:nvPr>
        </p:nvSpPr>
        <p:spPr>
          <a:xfrm>
            <a:off x="6057900" y="1430867"/>
            <a:ext cx="217170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87705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796048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4"/>
            <a:ext cx="7955280" cy="2801935"/>
          </a:xfrm>
        </p:spPr>
        <p:txBody>
          <a:bodyPr anchor="b">
            <a:normAutofit/>
          </a:bodyPr>
          <a:lstStyle>
            <a:lvl1pPr algn="r">
              <a:defRPr sz="4000"/>
            </a:lvl1pPr>
          </a:lstStyle>
          <a:p>
            <a:r>
              <a:rPr lang="en-GB"/>
              <a:t>Click to edit Master title style</a:t>
            </a:r>
            <a:endParaRPr lang="en-US" dirty="0"/>
          </a:p>
        </p:txBody>
      </p:sp>
      <p:sp>
        <p:nvSpPr>
          <p:cNvPr id="3" name="Text Placeholder 2"/>
          <p:cNvSpPr>
            <a:spLocks noGrp="1"/>
          </p:cNvSpPr>
          <p:nvPr>
            <p:ph type="body" idx="1"/>
          </p:nvPr>
        </p:nvSpPr>
        <p:spPr>
          <a:xfrm>
            <a:off x="594360" y="3641726"/>
            <a:ext cx="7955281" cy="1354134"/>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8/30/2025</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42015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594360" y="2194560"/>
            <a:ext cx="3910579" cy="406908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642099" y="2194560"/>
            <a:ext cx="3907540" cy="406908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8/30/2025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21349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71700" y="762000"/>
            <a:ext cx="6377940" cy="1295400"/>
          </a:xfrm>
        </p:spPr>
        <p:txBody>
          <a:bodyPr/>
          <a:lstStyle/>
          <a:p>
            <a:r>
              <a:rPr lang="en-GB"/>
              <a:t>Click to edit Master title style</a:t>
            </a:r>
            <a:endParaRPr lang="en-US" dirty="0"/>
          </a:p>
        </p:txBody>
      </p:sp>
      <p:sp>
        <p:nvSpPr>
          <p:cNvPr id="3" name="Text Placeholder 2"/>
          <p:cNvSpPr>
            <a:spLocks noGrp="1"/>
          </p:cNvSpPr>
          <p:nvPr>
            <p:ph type="body" idx="1"/>
          </p:nvPr>
        </p:nvSpPr>
        <p:spPr>
          <a:xfrm>
            <a:off x="821279" y="2183802"/>
            <a:ext cx="3683659"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594359" y="3132667"/>
            <a:ext cx="3910579" cy="313097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4869018" y="2183802"/>
            <a:ext cx="368062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2098" y="3132667"/>
            <a:ext cx="3907541" cy="313097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8/30/2025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247231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8/30/2025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735543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70194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3086100" cy="1600200"/>
          </a:xfrm>
        </p:spPr>
        <p:txBody>
          <a:bodyPr anchor="b"/>
          <a:lstStyle>
            <a:lvl1pPr algn="l">
              <a:defRPr sz="3200"/>
            </a:lvl1pPr>
          </a:lstStyle>
          <a:p>
            <a:r>
              <a:rPr lang="en-GB"/>
              <a:t>Click to edit Master title style</a:t>
            </a:r>
            <a:endParaRPr lang="en-US" dirty="0"/>
          </a:p>
        </p:txBody>
      </p:sp>
      <p:sp>
        <p:nvSpPr>
          <p:cNvPr id="3" name="Content Placeholder 2"/>
          <p:cNvSpPr>
            <a:spLocks noGrp="1"/>
          </p:cNvSpPr>
          <p:nvPr>
            <p:ph idx="1"/>
          </p:nvPr>
        </p:nvSpPr>
        <p:spPr>
          <a:xfrm>
            <a:off x="3886200" y="746760"/>
            <a:ext cx="4663440" cy="5516880"/>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594360" y="3124200"/>
            <a:ext cx="308610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69199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4075730" cy="1600200"/>
          </a:xfrm>
        </p:spPr>
        <p:txBody>
          <a:bodyPr anchor="b"/>
          <a:lstStyle>
            <a:lvl1pPr algn="l">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4877524" y="751242"/>
            <a:ext cx="3674234" cy="5512398"/>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594360" y="3124200"/>
            <a:ext cx="407573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970964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55" y="4697361"/>
            <a:ext cx="7956482" cy="819355"/>
          </a:xfrm>
        </p:spPr>
        <p:txBody>
          <a:bodyPr anchor="b"/>
          <a:lstStyle>
            <a:lvl1pPr algn="l">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94355" y="977035"/>
            <a:ext cx="7950260" cy="3406972"/>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594360" y="5516716"/>
            <a:ext cx="7955280" cy="746924"/>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077593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3"/>
            <a:ext cx="7955280" cy="2802467"/>
          </a:xfrm>
        </p:spPr>
        <p:txBody>
          <a:bodyPr anchor="ctr"/>
          <a:lstStyle>
            <a:lvl1pPr algn="l">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685800" y="3649134"/>
            <a:ext cx="7772400" cy="1330852"/>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8/30/2025</a:t>
            </a:fld>
            <a:endParaRPr lang="en-US"/>
          </a:p>
        </p:txBody>
      </p:sp>
      <p:sp>
        <p:nvSpPr>
          <p:cNvPr id="6" name="Footer Placeholder 5"/>
          <p:cNvSpPr>
            <a:spLocks noGrp="1"/>
          </p:cNvSpPr>
          <p:nvPr>
            <p:ph type="ftr" sz="quarter" idx="11"/>
          </p:nvPr>
        </p:nvSpPr>
        <p:spPr>
          <a:xfrm>
            <a:off x="594360" y="381001"/>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075842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768351" y="753534"/>
            <a:ext cx="7613650" cy="2756234"/>
          </a:xfrm>
        </p:spPr>
        <p:txBody>
          <a:bodyPr anchor="ctr"/>
          <a:lstStyle>
            <a:lvl1pPr algn="l">
              <a:defRPr sz="3200"/>
            </a:lvl1pPr>
          </a:lstStyle>
          <a:p>
            <a:r>
              <a:rPr lang="en-GB"/>
              <a:t>Click to edit Master title style</a:t>
            </a:r>
            <a:endParaRPr lang="en-US" dirty="0"/>
          </a:p>
        </p:txBody>
      </p:sp>
      <p:sp>
        <p:nvSpPr>
          <p:cNvPr id="12" name="Text Placeholder 3"/>
          <p:cNvSpPr>
            <a:spLocks noGrp="1"/>
          </p:cNvSpPr>
          <p:nvPr>
            <p:ph type="body" sz="half" idx="13"/>
          </p:nvPr>
        </p:nvSpPr>
        <p:spPr>
          <a:xfrm>
            <a:off x="977899" y="3509768"/>
            <a:ext cx="7194552"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4" name="Text Placeholder 3"/>
          <p:cNvSpPr>
            <a:spLocks noGrp="1"/>
          </p:cNvSpPr>
          <p:nvPr>
            <p:ph type="body" sz="half" idx="2"/>
          </p:nvPr>
        </p:nvSpPr>
        <p:spPr>
          <a:xfrm>
            <a:off x="685800" y="4174597"/>
            <a:ext cx="7778752" cy="821265"/>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8/30/2025</a:t>
            </a:fld>
            <a:endParaRPr lang="en-US"/>
          </a:p>
        </p:txBody>
      </p:sp>
      <p:sp>
        <p:nvSpPr>
          <p:cNvPr id="6" name="Footer Placeholder 5"/>
          <p:cNvSpPr>
            <a:spLocks noGrp="1"/>
          </p:cNvSpPr>
          <p:nvPr>
            <p:ph type="ftr" sz="quarter" idx="11"/>
          </p:nvPr>
        </p:nvSpPr>
        <p:spPr>
          <a:xfrm>
            <a:off x="594360" y="379438"/>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
        <p:nvSpPr>
          <p:cNvPr id="13" name="TextBox 12"/>
          <p:cNvSpPr txBox="1"/>
          <p:nvPr/>
        </p:nvSpPr>
        <p:spPr>
          <a:xfrm>
            <a:off x="231458" y="80772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8146733" y="302133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1549837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685800" y="1124702"/>
            <a:ext cx="7774782" cy="2511835"/>
          </a:xfrm>
        </p:spPr>
        <p:txBody>
          <a:bodyPr anchor="b"/>
          <a:lstStyle>
            <a:lvl1pPr algn="l">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685792" y="3648316"/>
            <a:ext cx="7773608"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5562176" y="378884"/>
            <a:ext cx="2183130" cy="365125"/>
          </a:xfrm>
        </p:spPr>
        <p:txBody>
          <a:bodyPr/>
          <a:lstStyle>
            <a:lvl1pPr algn="r">
              <a:defRPr/>
            </a:lvl1pPr>
          </a:lstStyle>
          <a:p>
            <a:fld id="{5BCAD085-E8A6-8845-BD4E-CB4CCA059FC4}" type="datetimeFigureOut">
              <a:rPr lang="en-US" smtClean="0"/>
              <a:t>8/30/2025</a:t>
            </a:fld>
            <a:endParaRPr lang="en-US"/>
          </a:p>
        </p:txBody>
      </p:sp>
      <p:sp>
        <p:nvSpPr>
          <p:cNvPr id="6" name="Footer Placeholder 5"/>
          <p:cNvSpPr>
            <a:spLocks noGrp="1"/>
          </p:cNvSpPr>
          <p:nvPr>
            <p:ph type="ftr" sz="quarter" idx="11"/>
          </p:nvPr>
        </p:nvSpPr>
        <p:spPr>
          <a:xfrm>
            <a:off x="594360" y="378884"/>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706303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171701" y="762000"/>
            <a:ext cx="6377939" cy="1303867"/>
          </a:xfrm>
        </p:spPr>
        <p:txBody>
          <a:bodyPr/>
          <a:lstStyle/>
          <a:p>
            <a:r>
              <a:rPr lang="en-GB"/>
              <a:t>Click to edit Master title style</a:t>
            </a:r>
            <a:endParaRPr lang="en-US" dirty="0"/>
          </a:p>
        </p:txBody>
      </p:sp>
      <p:sp>
        <p:nvSpPr>
          <p:cNvPr id="7" name="Text Placeholder 2"/>
          <p:cNvSpPr>
            <a:spLocks noGrp="1"/>
          </p:cNvSpPr>
          <p:nvPr>
            <p:ph type="body" idx="1"/>
          </p:nvPr>
        </p:nvSpPr>
        <p:spPr>
          <a:xfrm>
            <a:off x="594361" y="2202080"/>
            <a:ext cx="2560320"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8" name="Text Placeholder 3"/>
          <p:cNvSpPr>
            <a:spLocks noGrp="1"/>
          </p:cNvSpPr>
          <p:nvPr>
            <p:ph type="body" sz="half" idx="15"/>
          </p:nvPr>
        </p:nvSpPr>
        <p:spPr>
          <a:xfrm>
            <a:off x="59436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9" name="Text Placeholder 4"/>
          <p:cNvSpPr>
            <a:spLocks noGrp="1"/>
          </p:cNvSpPr>
          <p:nvPr>
            <p:ph type="body" sz="quarter" idx="3"/>
          </p:nvPr>
        </p:nvSpPr>
        <p:spPr>
          <a:xfrm>
            <a:off x="3302237" y="2201333"/>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0" name="Text Placeholder 3"/>
          <p:cNvSpPr>
            <a:spLocks noGrp="1"/>
          </p:cNvSpPr>
          <p:nvPr>
            <p:ph type="body" sz="half" idx="16"/>
          </p:nvPr>
        </p:nvSpPr>
        <p:spPr>
          <a:xfrm>
            <a:off x="3300781" y="2904068"/>
            <a:ext cx="2560320" cy="335957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1" name="Text Placeholder 4"/>
          <p:cNvSpPr>
            <a:spLocks noGrp="1"/>
          </p:cNvSpPr>
          <p:nvPr>
            <p:ph type="body" sz="quarter" idx="13"/>
          </p:nvPr>
        </p:nvSpPr>
        <p:spPr>
          <a:xfrm>
            <a:off x="5989319" y="2192866"/>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Text Placeholder 3"/>
          <p:cNvSpPr>
            <a:spLocks noGrp="1"/>
          </p:cNvSpPr>
          <p:nvPr>
            <p:ph type="body" sz="half" idx="17"/>
          </p:nvPr>
        </p:nvSpPr>
        <p:spPr>
          <a:xfrm>
            <a:off x="598932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8/30/2025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070979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171702" y="762000"/>
            <a:ext cx="6381984" cy="1295400"/>
          </a:xfrm>
        </p:spPr>
        <p:txBody>
          <a:bodyPr/>
          <a:lstStyle/>
          <a:p>
            <a:r>
              <a:rPr lang="en-GB"/>
              <a:t>Click to edit Master title style</a:t>
            </a:r>
            <a:endParaRPr lang="en-US" dirty="0"/>
          </a:p>
        </p:txBody>
      </p:sp>
      <p:sp>
        <p:nvSpPr>
          <p:cNvPr id="19" name="Text Placeholder 2"/>
          <p:cNvSpPr>
            <a:spLocks noGrp="1"/>
          </p:cNvSpPr>
          <p:nvPr>
            <p:ph type="body" idx="1"/>
          </p:nvPr>
        </p:nvSpPr>
        <p:spPr>
          <a:xfrm>
            <a:off x="594360"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Picture Placeholder 2"/>
          <p:cNvSpPr>
            <a:spLocks noGrp="1" noChangeAspect="1"/>
          </p:cNvSpPr>
          <p:nvPr>
            <p:ph type="pic" idx="15"/>
          </p:nvPr>
        </p:nvSpPr>
        <p:spPr>
          <a:xfrm>
            <a:off x="594360" y="2331720"/>
            <a:ext cx="2560320" cy="15073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1" name="Text Placeholder 3"/>
          <p:cNvSpPr>
            <a:spLocks noGrp="1"/>
          </p:cNvSpPr>
          <p:nvPr>
            <p:ph type="body" sz="half" idx="18"/>
          </p:nvPr>
        </p:nvSpPr>
        <p:spPr>
          <a:xfrm>
            <a:off x="594360" y="4796103"/>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2" name="Text Placeholder 4"/>
          <p:cNvSpPr>
            <a:spLocks noGrp="1"/>
          </p:cNvSpPr>
          <p:nvPr>
            <p:ph type="body" sz="quarter" idx="3"/>
          </p:nvPr>
        </p:nvSpPr>
        <p:spPr>
          <a:xfrm>
            <a:off x="3291873"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3" name="Picture Placeholder 2"/>
          <p:cNvSpPr>
            <a:spLocks noGrp="1" noChangeAspect="1"/>
          </p:cNvSpPr>
          <p:nvPr>
            <p:ph type="pic" idx="21"/>
          </p:nvPr>
        </p:nvSpPr>
        <p:spPr>
          <a:xfrm>
            <a:off x="3291872" y="2331720"/>
            <a:ext cx="2560320" cy="1509862"/>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4" name="Text Placeholder 3"/>
          <p:cNvSpPr>
            <a:spLocks noGrp="1"/>
          </p:cNvSpPr>
          <p:nvPr>
            <p:ph type="body" sz="half" idx="19"/>
          </p:nvPr>
        </p:nvSpPr>
        <p:spPr>
          <a:xfrm>
            <a:off x="3290858" y="4796102"/>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5" name="Text Placeholder 4"/>
          <p:cNvSpPr>
            <a:spLocks noGrp="1"/>
          </p:cNvSpPr>
          <p:nvPr>
            <p:ph type="body" sz="quarter" idx="13"/>
          </p:nvPr>
        </p:nvSpPr>
        <p:spPr>
          <a:xfrm>
            <a:off x="5993365"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6" name="Picture Placeholder 2"/>
          <p:cNvSpPr>
            <a:spLocks noGrp="1" noChangeAspect="1"/>
          </p:cNvSpPr>
          <p:nvPr>
            <p:ph type="pic" idx="22"/>
          </p:nvPr>
        </p:nvSpPr>
        <p:spPr>
          <a:xfrm>
            <a:off x="5993364" y="2331721"/>
            <a:ext cx="2560320" cy="1508919"/>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7" name="Text Placeholder 3"/>
          <p:cNvSpPr>
            <a:spLocks noGrp="1"/>
          </p:cNvSpPr>
          <p:nvPr>
            <p:ph type="body" sz="half" idx="20"/>
          </p:nvPr>
        </p:nvSpPr>
        <p:spPr>
          <a:xfrm>
            <a:off x="5993272" y="4796100"/>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8/30/2025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424783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a:xfrm>
            <a:off x="594360" y="2194560"/>
            <a:ext cx="7955280" cy="406908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155932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Vertical Title 1"/>
          <p:cNvSpPr>
            <a:spLocks noGrp="1"/>
          </p:cNvSpPr>
          <p:nvPr>
            <p:ph type="title" orient="vert"/>
          </p:nvPr>
        </p:nvSpPr>
        <p:spPr>
          <a:xfrm>
            <a:off x="7006590" y="747183"/>
            <a:ext cx="1543050" cy="4248675"/>
          </a:xfrm>
        </p:spPr>
        <p:txBody>
          <a:bodyPr vert="eaVert"/>
          <a:lstStyle>
            <a:lvl1pPr algn="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594360" y="746126"/>
            <a:ext cx="6278035" cy="4249732"/>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8/30/2025</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078874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1081088"/>
          </a:xfrm>
          <a:prstGeom prst="rect">
            <a:avLst/>
          </a:prstGeom>
        </p:spPr>
      </p:pic>
      <p:sp>
        <p:nvSpPr>
          <p:cNvPr id="2" name="Title Placeholder 1"/>
          <p:cNvSpPr>
            <a:spLocks noGrp="1"/>
          </p:cNvSpPr>
          <p:nvPr>
            <p:ph type="title"/>
          </p:nvPr>
        </p:nvSpPr>
        <p:spPr>
          <a:xfrm>
            <a:off x="2171700" y="764373"/>
            <a:ext cx="6377940" cy="1293028"/>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594360" y="2194560"/>
            <a:ext cx="7955280" cy="406908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6412230" y="6356351"/>
            <a:ext cx="213741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BCAD085-E8A6-8845-BD4E-CB4CCA059FC4}" type="datetimeFigureOut">
              <a:rPr lang="en-US" smtClean="0"/>
              <a:t>8/30/2025</a:t>
            </a:fld>
            <a:endParaRPr lang="en-US"/>
          </a:p>
        </p:txBody>
      </p:sp>
      <p:sp>
        <p:nvSpPr>
          <p:cNvPr id="5" name="Footer Placeholder 4"/>
          <p:cNvSpPr>
            <a:spLocks noGrp="1"/>
          </p:cNvSpPr>
          <p:nvPr>
            <p:ph type="ftr" sz="quarter" idx="3"/>
          </p:nvPr>
        </p:nvSpPr>
        <p:spPr>
          <a:xfrm>
            <a:off x="594360" y="6355846"/>
            <a:ext cx="568071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72250" y="381001"/>
            <a:ext cx="197739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82337497"/>
      </p:ext>
    </p:extLst>
  </p:cSld>
  <p:clrMap bg1="dk1" tx1="lt1" bg2="dk2" tx2="lt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hyperlink" Target="https://docs.aws.amazon.com/IAM/latest/UserGuide/introduction.html" TargetMode="External"/><Relationship Id="rId3" Type="http://schemas.openxmlformats.org/officeDocument/2006/relationships/hyperlink" Target="https://awsacademy.instructure.com/courses/81208" TargetMode="External"/><Relationship Id="rId7" Type="http://schemas.openxmlformats.org/officeDocument/2006/relationships/hyperlink" Target="https://docs.aws.amazon.com/apigateway/latest/developerguide/welcome.html" TargetMode="External"/><Relationship Id="rId2" Type="http://schemas.openxmlformats.org/officeDocument/2006/relationships/hyperlink" Target="https://awsacademy.instructure.com/courses/81207" TargetMode="External"/><Relationship Id="rId1" Type="http://schemas.openxmlformats.org/officeDocument/2006/relationships/slideLayout" Target="../slideLayouts/slideLayout2.xml"/><Relationship Id="rId6" Type="http://schemas.openxmlformats.org/officeDocument/2006/relationships/hyperlink" Target="https://docs.aws.amazon.com/AmazonS3/latest/userguide/Welcome.html" TargetMode="External"/><Relationship Id="rId5" Type="http://schemas.openxmlformats.org/officeDocument/2006/relationships/hyperlink" Target="https://docs.aws.amazon.com/amazondynamodb/latest/developerguide/Introduction.html" TargetMode="External"/><Relationship Id="rId4" Type="http://schemas.openxmlformats.org/officeDocument/2006/relationships/hyperlink" Target="https://docs.aws.amazon.com/lambda/latest/dg/welcome.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A3FBAA-91F5-9E2B-7856-C8913AD7036B}"/>
              </a:ext>
            </a:extLst>
          </p:cNvPr>
          <p:cNvSpPr>
            <a:spLocks noGrp="1"/>
          </p:cNvSpPr>
          <p:nvPr>
            <p:ph idx="1"/>
          </p:nvPr>
        </p:nvSpPr>
        <p:spPr>
          <a:xfrm>
            <a:off x="594360" y="1473201"/>
            <a:ext cx="7955280" cy="3750732"/>
          </a:xfrm>
        </p:spPr>
        <p:txBody>
          <a:bodyPr>
            <a:normAutofit fontScale="92500" lnSpcReduction="20000"/>
          </a:bodyPr>
          <a:lstStyle/>
          <a:p>
            <a:pPr marL="0" indent="0">
              <a:buNone/>
            </a:pPr>
            <a:r>
              <a:rPr lang="en-US" sz="2400" b="1" dirty="0"/>
              <a:t>              </a:t>
            </a:r>
            <a:r>
              <a:rPr lang="en-US" sz="2400" b="1" u="sng" dirty="0"/>
              <a:t>AWS DATA ENGINEERING VIRTUAL INTERNSHIP</a:t>
            </a:r>
          </a:p>
          <a:p>
            <a:pPr marL="0" indent="0" algn="ctr">
              <a:buNone/>
            </a:pPr>
            <a:r>
              <a:rPr lang="en-US" sz="2400" dirty="0"/>
              <a:t>By</a:t>
            </a:r>
          </a:p>
          <a:p>
            <a:pPr algn="ctr"/>
            <a:r>
              <a:rPr lang="en-US" b="1" dirty="0"/>
              <a:t>MULAGADA VAMSI</a:t>
            </a:r>
            <a:r>
              <a:rPr lang="en-US" sz="2400" b="1" dirty="0"/>
              <a:t>- (323103383041)</a:t>
            </a:r>
          </a:p>
          <a:p>
            <a:pPr algn="ctr"/>
            <a:r>
              <a:rPr lang="en-US" sz="2400" b="1" dirty="0"/>
              <a:t>MUTCHERLA PURANDISH (323103383043)</a:t>
            </a:r>
          </a:p>
          <a:p>
            <a:pPr algn="ctr"/>
            <a:r>
              <a:rPr lang="en-US" b="1" dirty="0"/>
              <a:t>NALLI SRUTHI</a:t>
            </a:r>
            <a:r>
              <a:rPr lang="en-US" sz="2400" b="1" dirty="0"/>
              <a:t>- (323103383045)</a:t>
            </a:r>
          </a:p>
          <a:p>
            <a:pPr algn="ctr"/>
            <a:r>
              <a:rPr lang="en-US" sz="2400" b="1" dirty="0"/>
              <a:t>PALANCHU KUNALSRI- (323103383046)</a:t>
            </a:r>
          </a:p>
          <a:p>
            <a:pPr algn="ctr"/>
            <a:r>
              <a:rPr lang="en-US" sz="2400" b="1" dirty="0"/>
              <a:t>BATCH NO:11</a:t>
            </a:r>
          </a:p>
          <a:p>
            <a:pPr algn="ctr"/>
            <a:r>
              <a:rPr lang="en-IN" sz="2400" b="1" dirty="0"/>
              <a:t>(CSD)</a:t>
            </a:r>
          </a:p>
          <a:p>
            <a:pPr algn="ctr"/>
            <a:r>
              <a:rPr lang="en-IN" sz="2400" b="1" dirty="0"/>
              <a:t>3rd Year</a:t>
            </a:r>
          </a:p>
          <a:p>
            <a:pPr algn="ctr"/>
            <a:r>
              <a:rPr lang="en-IN" sz="2400" b="1" dirty="0"/>
              <a:t>2025-2026</a:t>
            </a:r>
          </a:p>
        </p:txBody>
      </p:sp>
      <p:pic>
        <p:nvPicPr>
          <p:cNvPr id="4" name="Picture 3" descr="A close-up of a sign">
            <a:extLst>
              <a:ext uri="{FF2B5EF4-FFF2-40B4-BE49-F238E27FC236}">
                <a16:creationId xmlns:a16="http://schemas.microsoft.com/office/drawing/2014/main" id="{F3886CBA-C06E-37F8-0446-B4810DBB3877}"/>
              </a:ext>
            </a:extLst>
          </p:cNvPr>
          <p:cNvPicPr>
            <a:picLocks noChangeAspect="1"/>
          </p:cNvPicPr>
          <p:nvPr/>
        </p:nvPicPr>
        <p:blipFill>
          <a:blip r:embed="rId2"/>
          <a:stretch>
            <a:fillRect/>
          </a:stretch>
        </p:blipFill>
        <p:spPr>
          <a:xfrm>
            <a:off x="1" y="-28940"/>
            <a:ext cx="9144000" cy="1312307"/>
          </a:xfrm>
          <a:prstGeom prst="rect">
            <a:avLst/>
          </a:prstGeom>
        </p:spPr>
      </p:pic>
      <p:sp>
        <p:nvSpPr>
          <p:cNvPr id="7" name="TextBox 6">
            <a:extLst>
              <a:ext uri="{FF2B5EF4-FFF2-40B4-BE49-F238E27FC236}">
                <a16:creationId xmlns:a16="http://schemas.microsoft.com/office/drawing/2014/main" id="{821C4573-DD1C-D435-A378-F9D73FFED183}"/>
              </a:ext>
            </a:extLst>
          </p:cNvPr>
          <p:cNvSpPr txBox="1"/>
          <p:nvPr/>
        </p:nvSpPr>
        <p:spPr>
          <a:xfrm>
            <a:off x="118533" y="5413767"/>
            <a:ext cx="2768600" cy="1477328"/>
          </a:xfrm>
          <a:prstGeom prst="rect">
            <a:avLst/>
          </a:prstGeom>
          <a:noFill/>
        </p:spPr>
        <p:txBody>
          <a:bodyPr wrap="square" rtlCol="0">
            <a:spAutoFit/>
          </a:bodyPr>
          <a:lstStyle/>
          <a:p>
            <a:pPr algn="ctr"/>
            <a:r>
              <a:rPr lang="en-US" dirty="0"/>
              <a:t>Name of the Course Co-Ordinator</a:t>
            </a:r>
          </a:p>
          <a:p>
            <a:pPr algn="ctr"/>
            <a:r>
              <a:rPr lang="en-US" b="1" dirty="0"/>
              <a:t>Dr. CH SITA KUMARI</a:t>
            </a:r>
          </a:p>
          <a:p>
            <a:pPr algn="ctr"/>
            <a:r>
              <a:rPr lang="en-US" dirty="0"/>
              <a:t>(Associate Professor)</a:t>
            </a:r>
            <a:endParaRPr lang="en-IN" dirty="0"/>
          </a:p>
          <a:p>
            <a:endParaRPr lang="en-IN" dirty="0"/>
          </a:p>
        </p:txBody>
      </p:sp>
      <p:sp>
        <p:nvSpPr>
          <p:cNvPr id="8" name="TextBox 7">
            <a:extLst>
              <a:ext uri="{FF2B5EF4-FFF2-40B4-BE49-F238E27FC236}">
                <a16:creationId xmlns:a16="http://schemas.microsoft.com/office/drawing/2014/main" id="{0AF2AAEB-E5CB-9BF8-F925-56A14F92351E}"/>
              </a:ext>
            </a:extLst>
          </p:cNvPr>
          <p:cNvSpPr txBox="1"/>
          <p:nvPr/>
        </p:nvSpPr>
        <p:spPr>
          <a:xfrm>
            <a:off x="6256869" y="5430700"/>
            <a:ext cx="2633133" cy="1477328"/>
          </a:xfrm>
          <a:prstGeom prst="rect">
            <a:avLst/>
          </a:prstGeom>
          <a:noFill/>
        </p:spPr>
        <p:txBody>
          <a:bodyPr wrap="square" rtlCol="0">
            <a:spAutoFit/>
          </a:bodyPr>
          <a:lstStyle/>
          <a:p>
            <a:pPr algn="ctr"/>
            <a:r>
              <a:rPr lang="en-US" dirty="0"/>
              <a:t>Name of the Project Mentor</a:t>
            </a:r>
          </a:p>
          <a:p>
            <a:pPr algn="ctr"/>
            <a:r>
              <a:rPr lang="en-US" b="1" dirty="0"/>
              <a:t>Mr. D. Arun Kumar</a:t>
            </a:r>
          </a:p>
          <a:p>
            <a:pPr algn="ctr"/>
            <a:r>
              <a:rPr lang="en-US" dirty="0"/>
              <a:t>(</a:t>
            </a:r>
            <a:r>
              <a:rPr lang="en-IN" dirty="0"/>
              <a:t>Assistant Professor)</a:t>
            </a:r>
          </a:p>
          <a:p>
            <a:endParaRPr lang="en-IN" dirty="0"/>
          </a:p>
        </p:txBody>
      </p:sp>
    </p:spTree>
    <p:extLst>
      <p:ext uri="{BB962C8B-B14F-4D97-AF65-F5344CB8AC3E}">
        <p14:creationId xmlns:p14="http://schemas.microsoft.com/office/powerpoint/2010/main" val="40558376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4F63E5-7979-2725-CFC1-A8C611B73839}"/>
              </a:ext>
            </a:extLst>
          </p:cNvPr>
          <p:cNvSpPr>
            <a:spLocks noGrp="1"/>
          </p:cNvSpPr>
          <p:nvPr>
            <p:ph idx="1"/>
          </p:nvPr>
        </p:nvSpPr>
        <p:spPr>
          <a:xfrm>
            <a:off x="594360" y="846666"/>
            <a:ext cx="7955280" cy="5461001"/>
          </a:xfrm>
        </p:spPr>
        <p:txBody>
          <a:bodyPr>
            <a:normAutofit/>
          </a:bodyPr>
          <a:lstStyle/>
          <a:p>
            <a:pPr algn="just"/>
            <a:r>
              <a:rPr lang="en-US" sz="2400" dirty="0">
                <a:latin typeface="Arial" panose="020B0604020202020204" pitchFamily="34" charset="0"/>
                <a:cs typeface="Arial" panose="020B0604020202020204" pitchFamily="34" charset="0"/>
              </a:rPr>
              <a:t>Data engineering involves building and managing pipelines that collect, store, transform, and prepare raw data into structured, query-ready formats. In this internship, we studied cloud computing, which delivers resources like compute, storage, and databases on demand through AWS’s global infrastructure. Using these concepts, we designed an automated ETL pipeline to process nested JSON customer order data into Parquet format. The solution used Amazon S3 for storage, AWS Lambda for serverless transformation, AWS Glue for cataloging, and Amazon Athena for querying. This automation eliminated manual effort, reduced delays, and improved accuracy in reporting. Overall, the project highlighted how AWS services enable timely insights and support data-driven decision-making.</a:t>
            </a:r>
          </a:p>
          <a:p>
            <a:endParaRPr lang="en-IN" dirty="0"/>
          </a:p>
        </p:txBody>
      </p:sp>
      <p:sp>
        <p:nvSpPr>
          <p:cNvPr id="7" name="TextBox 6">
            <a:extLst>
              <a:ext uri="{FF2B5EF4-FFF2-40B4-BE49-F238E27FC236}">
                <a16:creationId xmlns:a16="http://schemas.microsoft.com/office/drawing/2014/main" id="{ED2673DD-64E3-CD55-ED44-C044F92694BC}"/>
              </a:ext>
            </a:extLst>
          </p:cNvPr>
          <p:cNvSpPr txBox="1"/>
          <p:nvPr/>
        </p:nvSpPr>
        <p:spPr>
          <a:xfrm>
            <a:off x="3318933" y="261891"/>
            <a:ext cx="2147802" cy="584775"/>
          </a:xfrm>
          <a:prstGeom prst="rect">
            <a:avLst/>
          </a:prstGeom>
          <a:noFill/>
        </p:spPr>
        <p:txBody>
          <a:bodyPr wrap="square" rtlCol="0">
            <a:spAutoFit/>
          </a:bodyPr>
          <a:lstStyle/>
          <a:p>
            <a:r>
              <a:rPr lang="en-IN" sz="3200" u="sng" dirty="0"/>
              <a:t>ABSTRACT</a:t>
            </a:r>
          </a:p>
        </p:txBody>
      </p:sp>
    </p:spTree>
    <p:extLst>
      <p:ext uri="{BB962C8B-B14F-4D97-AF65-F5344CB8AC3E}">
        <p14:creationId xmlns:p14="http://schemas.microsoft.com/office/powerpoint/2010/main" val="25598503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D89DA-5650-250F-AE2F-DBC79EF161F3}"/>
              </a:ext>
            </a:extLst>
          </p:cNvPr>
          <p:cNvSpPr>
            <a:spLocks noGrp="1"/>
          </p:cNvSpPr>
          <p:nvPr>
            <p:ph type="title"/>
          </p:nvPr>
        </p:nvSpPr>
        <p:spPr>
          <a:xfrm>
            <a:off x="995680" y="696640"/>
            <a:ext cx="7152640" cy="937427"/>
          </a:xfrm>
        </p:spPr>
        <p:txBody>
          <a:bodyPr/>
          <a:lstStyle/>
          <a:p>
            <a:r>
              <a:rPr lang="en-IN" u="sng" dirty="0"/>
              <a:t>AWS CLOUD FOUNDATION</a:t>
            </a:r>
          </a:p>
        </p:txBody>
      </p:sp>
      <p:sp>
        <p:nvSpPr>
          <p:cNvPr id="3" name="Content Placeholder 2">
            <a:extLst>
              <a:ext uri="{FF2B5EF4-FFF2-40B4-BE49-F238E27FC236}">
                <a16:creationId xmlns:a16="http://schemas.microsoft.com/office/drawing/2014/main" id="{767AF455-1691-0F9B-7A6B-1AAA842F4A99}"/>
              </a:ext>
            </a:extLst>
          </p:cNvPr>
          <p:cNvSpPr>
            <a:spLocks noGrp="1"/>
          </p:cNvSpPr>
          <p:nvPr>
            <p:ph idx="1"/>
          </p:nvPr>
        </p:nvSpPr>
        <p:spPr>
          <a:xfrm>
            <a:off x="594360" y="1566333"/>
            <a:ext cx="7955280" cy="4697307"/>
          </a:xfrm>
        </p:spPr>
        <p:txBody>
          <a:bodyPr>
            <a:normAutofit fontScale="62500" lnSpcReduction="20000"/>
          </a:bodyPr>
          <a:lstStyle/>
          <a:p>
            <a:pPr marL="457200" lvl="0" indent="-457200" eaLnBrk="0" fontAlgn="base" hangingPunct="0">
              <a:lnSpc>
                <a:spcPct val="170000"/>
              </a:lnSpc>
              <a:spcBef>
                <a:spcPct val="0"/>
              </a:spcBef>
              <a:spcAft>
                <a:spcPct val="0"/>
              </a:spcAft>
              <a:buFont typeface="+mj-lt"/>
              <a:buAutoNum type="arabicPeriod"/>
            </a:pPr>
            <a:r>
              <a:rPr lang="en-US" altLang="en-US" sz="2400" b="1" dirty="0">
                <a:latin typeface="Arial" panose="020B0604020202020204" pitchFamily="34" charset="0"/>
                <a:cs typeface="Arial" panose="020B0604020202020204" pitchFamily="34" charset="0"/>
              </a:rPr>
              <a:t>Introduction to Data Engineering</a:t>
            </a:r>
            <a:r>
              <a:rPr lang="en-US" altLang="en-US" sz="2400" dirty="0">
                <a:latin typeface="Arial" panose="020B0604020202020204" pitchFamily="34" charset="0"/>
                <a:cs typeface="Arial" panose="020B0604020202020204" pitchFamily="34" charset="0"/>
              </a:rPr>
              <a:t> – Overview of core concepts</a:t>
            </a:r>
          </a:p>
          <a:p>
            <a:pPr marL="457200" lvl="0" indent="-457200" eaLnBrk="0" fontAlgn="base" hangingPunct="0">
              <a:lnSpc>
                <a:spcPct val="170000"/>
              </a:lnSpc>
              <a:spcBef>
                <a:spcPct val="0"/>
              </a:spcBef>
              <a:spcAft>
                <a:spcPct val="0"/>
              </a:spcAft>
              <a:buFont typeface="+mj-lt"/>
              <a:buAutoNum type="arabicPeriod"/>
            </a:pPr>
            <a:r>
              <a:rPr lang="en-US" altLang="en-US" sz="2400" b="1" dirty="0">
                <a:latin typeface="Arial" panose="020B0604020202020204" pitchFamily="34" charset="0"/>
                <a:cs typeface="Arial" panose="020B0604020202020204" pitchFamily="34" charset="0"/>
              </a:rPr>
              <a:t>Data-Driven Organizations</a:t>
            </a:r>
            <a:r>
              <a:rPr lang="en-US" altLang="en-US" sz="2400" dirty="0">
                <a:latin typeface="Arial" panose="020B0604020202020204" pitchFamily="34" charset="0"/>
                <a:cs typeface="Arial" panose="020B0604020202020204" pitchFamily="34" charset="0"/>
              </a:rPr>
              <a:t> – Importance and usage in business</a:t>
            </a:r>
          </a:p>
          <a:p>
            <a:pPr marL="457200" lvl="0" indent="-457200" eaLnBrk="0" fontAlgn="base" hangingPunct="0">
              <a:lnSpc>
                <a:spcPct val="170000"/>
              </a:lnSpc>
              <a:spcBef>
                <a:spcPct val="0"/>
              </a:spcBef>
              <a:spcAft>
                <a:spcPct val="0"/>
              </a:spcAft>
              <a:buFont typeface="+mj-lt"/>
              <a:buAutoNum type="arabicPeriod"/>
            </a:pPr>
            <a:r>
              <a:rPr lang="en-US" altLang="en-US" sz="2400" b="1" dirty="0">
                <a:latin typeface="Arial" panose="020B0604020202020204" pitchFamily="34" charset="0"/>
                <a:cs typeface="Arial" panose="020B0604020202020204" pitchFamily="34" charset="0"/>
              </a:rPr>
              <a:t>The Elements of Data</a:t>
            </a:r>
            <a:r>
              <a:rPr lang="en-US" altLang="en-US" sz="2400" dirty="0">
                <a:latin typeface="Arial" panose="020B0604020202020204" pitchFamily="34" charset="0"/>
                <a:cs typeface="Arial" panose="020B0604020202020204" pitchFamily="34" charset="0"/>
              </a:rPr>
              <a:t> – Key components of data</a:t>
            </a:r>
          </a:p>
          <a:p>
            <a:pPr marL="457200" lvl="0" indent="-457200" eaLnBrk="0" fontAlgn="base" hangingPunct="0">
              <a:lnSpc>
                <a:spcPct val="170000"/>
              </a:lnSpc>
              <a:spcBef>
                <a:spcPct val="0"/>
              </a:spcBef>
              <a:spcAft>
                <a:spcPct val="0"/>
              </a:spcAft>
              <a:buFont typeface="+mj-lt"/>
              <a:buAutoNum type="arabicPeriod"/>
            </a:pPr>
            <a:r>
              <a:rPr lang="en-US" altLang="en-US" sz="2400" b="1" dirty="0">
                <a:latin typeface="Arial" panose="020B0604020202020204" pitchFamily="34" charset="0"/>
                <a:cs typeface="Arial" panose="020B0604020202020204" pitchFamily="34" charset="0"/>
              </a:rPr>
              <a:t>Pipeline Design</a:t>
            </a:r>
            <a:r>
              <a:rPr lang="en-US" altLang="en-US" sz="2400" dirty="0">
                <a:latin typeface="Arial" panose="020B0604020202020204" pitchFamily="34" charset="0"/>
                <a:cs typeface="Arial" panose="020B0604020202020204" pitchFamily="34" charset="0"/>
              </a:rPr>
              <a:t> – Principles and best practices</a:t>
            </a:r>
          </a:p>
          <a:p>
            <a:pPr marL="457200" lvl="0" indent="-457200" eaLnBrk="0" fontAlgn="base" hangingPunct="0">
              <a:lnSpc>
                <a:spcPct val="170000"/>
              </a:lnSpc>
              <a:spcBef>
                <a:spcPct val="0"/>
              </a:spcBef>
              <a:spcAft>
                <a:spcPct val="0"/>
              </a:spcAft>
              <a:buFont typeface="+mj-lt"/>
              <a:buAutoNum type="arabicPeriod"/>
            </a:pPr>
            <a:r>
              <a:rPr lang="en-US" altLang="en-US" sz="2400" b="1" dirty="0">
                <a:latin typeface="Arial" panose="020B0604020202020204" pitchFamily="34" charset="0"/>
                <a:cs typeface="Arial" panose="020B0604020202020204" pitchFamily="34" charset="0"/>
              </a:rPr>
              <a:t>Security &amp; Scaling</a:t>
            </a:r>
            <a:r>
              <a:rPr lang="en-US" altLang="en-US" sz="2400" dirty="0">
                <a:latin typeface="Arial" panose="020B0604020202020204" pitchFamily="34" charset="0"/>
                <a:cs typeface="Arial" panose="020B0604020202020204" pitchFamily="34" charset="0"/>
              </a:rPr>
              <a:t> – Protecting and growing pipelines</a:t>
            </a:r>
          </a:p>
          <a:p>
            <a:pPr marL="457200" lvl="0" indent="-457200" eaLnBrk="0" fontAlgn="base" hangingPunct="0">
              <a:lnSpc>
                <a:spcPct val="170000"/>
              </a:lnSpc>
              <a:spcBef>
                <a:spcPct val="0"/>
              </a:spcBef>
              <a:spcAft>
                <a:spcPct val="0"/>
              </a:spcAft>
              <a:buFont typeface="+mj-lt"/>
              <a:buAutoNum type="arabicPeriod"/>
            </a:pPr>
            <a:r>
              <a:rPr lang="en-US" altLang="en-US" sz="2400" b="1" dirty="0">
                <a:latin typeface="Arial" panose="020B0604020202020204" pitchFamily="34" charset="0"/>
                <a:cs typeface="Arial" panose="020B0604020202020204" pitchFamily="34" charset="0"/>
              </a:rPr>
              <a:t>Data Ingestion</a:t>
            </a:r>
            <a:r>
              <a:rPr lang="en-US" altLang="en-US" sz="2400" dirty="0">
                <a:latin typeface="Arial" panose="020B0604020202020204" pitchFamily="34" charset="0"/>
                <a:cs typeface="Arial" panose="020B0604020202020204" pitchFamily="34" charset="0"/>
              </a:rPr>
              <a:t> – Collecting and preparing data</a:t>
            </a:r>
          </a:p>
          <a:p>
            <a:pPr marL="457200" lvl="0" indent="-457200" eaLnBrk="0" fontAlgn="base" hangingPunct="0">
              <a:lnSpc>
                <a:spcPct val="170000"/>
              </a:lnSpc>
              <a:spcBef>
                <a:spcPct val="0"/>
              </a:spcBef>
              <a:spcAft>
                <a:spcPct val="0"/>
              </a:spcAft>
              <a:buFont typeface="+mj-lt"/>
              <a:buAutoNum type="arabicPeriod"/>
            </a:pPr>
            <a:r>
              <a:rPr lang="en-US" altLang="en-US" sz="2400" b="1" dirty="0">
                <a:latin typeface="Arial" panose="020B0604020202020204" pitchFamily="34" charset="0"/>
                <a:cs typeface="Arial" panose="020B0604020202020204" pitchFamily="34" charset="0"/>
              </a:rPr>
              <a:t>Batch &amp; Stream Ingestion</a:t>
            </a:r>
            <a:r>
              <a:rPr lang="en-US" altLang="en-US" sz="2400" dirty="0">
                <a:latin typeface="Arial" panose="020B0604020202020204" pitchFamily="34" charset="0"/>
                <a:cs typeface="Arial" panose="020B0604020202020204" pitchFamily="34" charset="0"/>
              </a:rPr>
              <a:t> – Processing real-time and historical data</a:t>
            </a:r>
          </a:p>
          <a:p>
            <a:pPr marL="457200" lvl="0" indent="-457200" eaLnBrk="0" fontAlgn="base" hangingPunct="0">
              <a:lnSpc>
                <a:spcPct val="170000"/>
              </a:lnSpc>
              <a:spcBef>
                <a:spcPct val="0"/>
              </a:spcBef>
              <a:spcAft>
                <a:spcPct val="0"/>
              </a:spcAft>
              <a:buFont typeface="+mj-lt"/>
              <a:buAutoNum type="arabicPeriod"/>
            </a:pPr>
            <a:r>
              <a:rPr lang="en-US" altLang="en-US" sz="2400" b="1" dirty="0">
                <a:latin typeface="Arial" panose="020B0604020202020204" pitchFamily="34" charset="0"/>
                <a:cs typeface="Arial" panose="020B0604020202020204" pitchFamily="34" charset="0"/>
              </a:rPr>
              <a:t>Storing &amp; Organizing Data</a:t>
            </a:r>
            <a:r>
              <a:rPr lang="en-US" altLang="en-US" sz="2400" dirty="0">
                <a:latin typeface="Arial" panose="020B0604020202020204" pitchFamily="34" charset="0"/>
                <a:cs typeface="Arial" panose="020B0604020202020204" pitchFamily="34" charset="0"/>
              </a:rPr>
              <a:t> – Efficient data management</a:t>
            </a:r>
          </a:p>
          <a:p>
            <a:pPr marL="457200" lvl="0" indent="-457200" eaLnBrk="0" fontAlgn="base" hangingPunct="0">
              <a:lnSpc>
                <a:spcPct val="170000"/>
              </a:lnSpc>
              <a:spcBef>
                <a:spcPct val="0"/>
              </a:spcBef>
              <a:spcAft>
                <a:spcPct val="0"/>
              </a:spcAft>
              <a:buFont typeface="+mj-lt"/>
              <a:buAutoNum type="arabicPeriod"/>
            </a:pPr>
            <a:r>
              <a:rPr lang="en-US" altLang="en-US" sz="2400" b="1" dirty="0">
                <a:latin typeface="Arial" panose="020B0604020202020204" pitchFamily="34" charset="0"/>
                <a:cs typeface="Arial" panose="020B0604020202020204" pitchFamily="34" charset="0"/>
              </a:rPr>
              <a:t>Processing Big Data</a:t>
            </a:r>
            <a:r>
              <a:rPr lang="en-US" altLang="en-US" sz="2400" dirty="0">
                <a:latin typeface="Arial" panose="020B0604020202020204" pitchFamily="34" charset="0"/>
                <a:cs typeface="Arial" panose="020B0604020202020204" pitchFamily="34" charset="0"/>
              </a:rPr>
              <a:t> – Handling large datasets</a:t>
            </a:r>
          </a:p>
          <a:p>
            <a:pPr marL="457200" lvl="0" indent="-457200" eaLnBrk="0" fontAlgn="base" hangingPunct="0">
              <a:lnSpc>
                <a:spcPct val="170000"/>
              </a:lnSpc>
              <a:spcBef>
                <a:spcPct val="0"/>
              </a:spcBef>
              <a:spcAft>
                <a:spcPct val="0"/>
              </a:spcAft>
              <a:buFont typeface="+mj-lt"/>
              <a:buAutoNum type="arabicPeriod"/>
            </a:pPr>
            <a:r>
              <a:rPr lang="en-US" altLang="en-US" sz="2400" b="1" dirty="0">
                <a:latin typeface="Arial" panose="020B0604020202020204" pitchFamily="34" charset="0"/>
                <a:cs typeface="Arial" panose="020B0604020202020204" pitchFamily="34" charset="0"/>
              </a:rPr>
              <a:t>ML Data Preparation</a:t>
            </a:r>
            <a:r>
              <a:rPr lang="en-US" altLang="en-US" sz="2400" dirty="0">
                <a:latin typeface="Arial" panose="020B0604020202020204" pitchFamily="34" charset="0"/>
                <a:cs typeface="Arial" panose="020B0604020202020204" pitchFamily="34" charset="0"/>
              </a:rPr>
              <a:t> – Preparing data for machine learning</a:t>
            </a:r>
          </a:p>
          <a:p>
            <a:pPr marL="457200" lvl="0" indent="-457200" eaLnBrk="0" fontAlgn="base" hangingPunct="0">
              <a:lnSpc>
                <a:spcPct val="170000"/>
              </a:lnSpc>
              <a:spcBef>
                <a:spcPct val="0"/>
              </a:spcBef>
              <a:spcAft>
                <a:spcPct val="0"/>
              </a:spcAft>
              <a:buFont typeface="+mj-lt"/>
              <a:buAutoNum type="arabicPeriod"/>
            </a:pPr>
            <a:r>
              <a:rPr lang="en-US" altLang="en-US" sz="2400" b="1" dirty="0">
                <a:latin typeface="Arial" panose="020B0604020202020204" pitchFamily="34" charset="0"/>
                <a:cs typeface="Arial" panose="020B0604020202020204" pitchFamily="34" charset="0"/>
              </a:rPr>
              <a:t>Analysis &amp; Visualization</a:t>
            </a:r>
            <a:r>
              <a:rPr lang="en-US" altLang="en-US" sz="2400" dirty="0">
                <a:latin typeface="Arial" panose="020B0604020202020204" pitchFamily="34" charset="0"/>
                <a:cs typeface="Arial" panose="020B0604020202020204" pitchFamily="34" charset="0"/>
              </a:rPr>
              <a:t> – Extracting insights from data</a:t>
            </a:r>
          </a:p>
          <a:p>
            <a:pPr marL="457200" lvl="0" indent="-457200" eaLnBrk="0" fontAlgn="base" hangingPunct="0">
              <a:lnSpc>
                <a:spcPct val="170000"/>
              </a:lnSpc>
              <a:spcBef>
                <a:spcPct val="0"/>
              </a:spcBef>
              <a:spcAft>
                <a:spcPct val="0"/>
              </a:spcAft>
              <a:buFont typeface="+mj-lt"/>
              <a:buAutoNum type="arabicPeriod"/>
            </a:pPr>
            <a:r>
              <a:rPr lang="en-US" altLang="en-US" sz="2400" b="1" dirty="0">
                <a:latin typeface="Arial" panose="020B0604020202020204" pitchFamily="34" charset="0"/>
                <a:cs typeface="Arial" panose="020B0604020202020204" pitchFamily="34" charset="0"/>
              </a:rPr>
              <a:t>Automation</a:t>
            </a:r>
            <a:r>
              <a:rPr lang="en-US" altLang="en-US" sz="2400" dirty="0">
                <a:latin typeface="Arial" panose="020B0604020202020204" pitchFamily="34" charset="0"/>
                <a:cs typeface="Arial" panose="020B0604020202020204" pitchFamily="34" charset="0"/>
              </a:rPr>
              <a:t> – Streamlining workflows and pipelines</a:t>
            </a:r>
          </a:p>
          <a:p>
            <a:endParaRPr lang="en-IN" dirty="0"/>
          </a:p>
        </p:txBody>
      </p:sp>
    </p:spTree>
    <p:extLst>
      <p:ext uri="{BB962C8B-B14F-4D97-AF65-F5344CB8AC3E}">
        <p14:creationId xmlns:p14="http://schemas.microsoft.com/office/powerpoint/2010/main" val="41281347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CDEDD-5715-266E-EE81-B21BE3AB1570}"/>
              </a:ext>
            </a:extLst>
          </p:cNvPr>
          <p:cNvSpPr>
            <a:spLocks noGrp="1"/>
          </p:cNvSpPr>
          <p:nvPr>
            <p:ph type="title"/>
          </p:nvPr>
        </p:nvSpPr>
        <p:spPr>
          <a:xfrm>
            <a:off x="1383030" y="688173"/>
            <a:ext cx="6377940" cy="1039027"/>
          </a:xfrm>
        </p:spPr>
        <p:txBody>
          <a:bodyPr/>
          <a:lstStyle/>
          <a:p>
            <a:r>
              <a:rPr lang="en-IN" u="sng" dirty="0"/>
              <a:t>AWS DATA ENGINEERING</a:t>
            </a:r>
          </a:p>
        </p:txBody>
      </p:sp>
      <p:sp>
        <p:nvSpPr>
          <p:cNvPr id="3" name="Content Placeholder 2">
            <a:extLst>
              <a:ext uri="{FF2B5EF4-FFF2-40B4-BE49-F238E27FC236}">
                <a16:creationId xmlns:a16="http://schemas.microsoft.com/office/drawing/2014/main" id="{4014C5F2-2B28-EF44-B227-22D85DDEF44B}"/>
              </a:ext>
            </a:extLst>
          </p:cNvPr>
          <p:cNvSpPr>
            <a:spLocks noGrp="1"/>
          </p:cNvSpPr>
          <p:nvPr>
            <p:ph idx="1"/>
          </p:nvPr>
        </p:nvSpPr>
        <p:spPr>
          <a:xfrm>
            <a:off x="594360" y="1727200"/>
            <a:ext cx="7955280" cy="4536440"/>
          </a:xfrm>
        </p:spPr>
        <p:txBody>
          <a:bodyPr>
            <a:normAutofit fontScale="62500" lnSpcReduction="20000"/>
          </a:bodyPr>
          <a:lstStyle/>
          <a:p>
            <a:pPr marL="457200" lvl="0" indent="-457200" eaLnBrk="0" fontAlgn="base" hangingPunct="0">
              <a:lnSpc>
                <a:spcPct val="170000"/>
              </a:lnSpc>
              <a:spcBef>
                <a:spcPct val="0"/>
              </a:spcBef>
              <a:spcAft>
                <a:spcPct val="0"/>
              </a:spcAft>
              <a:buFont typeface="+mj-lt"/>
              <a:buAutoNum type="arabicPeriod"/>
            </a:pPr>
            <a:r>
              <a:rPr lang="en-US" altLang="en-US" sz="2400" b="1" dirty="0">
                <a:latin typeface="Arial" panose="020B0604020202020204" pitchFamily="34" charset="0"/>
                <a:cs typeface="Arial" panose="020B0604020202020204" pitchFamily="34" charset="0"/>
              </a:rPr>
              <a:t>Introduction to Data Engineering</a:t>
            </a:r>
            <a:r>
              <a:rPr lang="en-US" altLang="en-US" sz="2400" dirty="0">
                <a:latin typeface="Arial" panose="020B0604020202020204" pitchFamily="34" charset="0"/>
                <a:cs typeface="Arial" panose="020B0604020202020204" pitchFamily="34" charset="0"/>
              </a:rPr>
              <a:t> – Overview of core concepts</a:t>
            </a:r>
          </a:p>
          <a:p>
            <a:pPr marL="457200" lvl="0" indent="-457200" eaLnBrk="0" fontAlgn="base" hangingPunct="0">
              <a:lnSpc>
                <a:spcPct val="170000"/>
              </a:lnSpc>
              <a:spcBef>
                <a:spcPct val="0"/>
              </a:spcBef>
              <a:spcAft>
                <a:spcPct val="0"/>
              </a:spcAft>
              <a:buFont typeface="+mj-lt"/>
              <a:buAutoNum type="arabicPeriod"/>
            </a:pPr>
            <a:r>
              <a:rPr lang="en-US" altLang="en-US" sz="2400" b="1" dirty="0">
                <a:latin typeface="Arial" panose="020B0604020202020204" pitchFamily="34" charset="0"/>
                <a:cs typeface="Arial" panose="020B0604020202020204" pitchFamily="34" charset="0"/>
              </a:rPr>
              <a:t>Data-Driven Organizations</a:t>
            </a:r>
            <a:r>
              <a:rPr lang="en-US" altLang="en-US" sz="2400" dirty="0">
                <a:latin typeface="Arial" panose="020B0604020202020204" pitchFamily="34" charset="0"/>
                <a:cs typeface="Arial" panose="020B0604020202020204" pitchFamily="34" charset="0"/>
              </a:rPr>
              <a:t> – Importance and usage in business</a:t>
            </a:r>
          </a:p>
          <a:p>
            <a:pPr marL="457200" lvl="0" indent="-457200" eaLnBrk="0" fontAlgn="base" hangingPunct="0">
              <a:lnSpc>
                <a:spcPct val="170000"/>
              </a:lnSpc>
              <a:spcBef>
                <a:spcPct val="0"/>
              </a:spcBef>
              <a:spcAft>
                <a:spcPct val="0"/>
              </a:spcAft>
              <a:buFont typeface="+mj-lt"/>
              <a:buAutoNum type="arabicPeriod"/>
            </a:pPr>
            <a:r>
              <a:rPr lang="en-US" altLang="en-US" sz="2400" b="1" dirty="0">
                <a:latin typeface="Arial" panose="020B0604020202020204" pitchFamily="34" charset="0"/>
                <a:cs typeface="Arial" panose="020B0604020202020204" pitchFamily="34" charset="0"/>
              </a:rPr>
              <a:t>The Elements of Data</a:t>
            </a:r>
            <a:r>
              <a:rPr lang="en-US" altLang="en-US" sz="2400" dirty="0">
                <a:latin typeface="Arial" panose="020B0604020202020204" pitchFamily="34" charset="0"/>
                <a:cs typeface="Arial" panose="020B0604020202020204" pitchFamily="34" charset="0"/>
              </a:rPr>
              <a:t> – Key components of data</a:t>
            </a:r>
          </a:p>
          <a:p>
            <a:pPr marL="457200" lvl="0" indent="-457200" eaLnBrk="0" fontAlgn="base" hangingPunct="0">
              <a:lnSpc>
                <a:spcPct val="170000"/>
              </a:lnSpc>
              <a:spcBef>
                <a:spcPct val="0"/>
              </a:spcBef>
              <a:spcAft>
                <a:spcPct val="0"/>
              </a:spcAft>
              <a:buFont typeface="+mj-lt"/>
              <a:buAutoNum type="arabicPeriod"/>
            </a:pPr>
            <a:r>
              <a:rPr lang="en-US" altLang="en-US" sz="2400" b="1" dirty="0">
                <a:latin typeface="Arial" panose="020B0604020202020204" pitchFamily="34" charset="0"/>
                <a:cs typeface="Arial" panose="020B0604020202020204" pitchFamily="34" charset="0"/>
              </a:rPr>
              <a:t>Pipeline Design</a:t>
            </a:r>
            <a:r>
              <a:rPr lang="en-US" altLang="en-US" sz="2400" dirty="0">
                <a:latin typeface="Arial" panose="020B0604020202020204" pitchFamily="34" charset="0"/>
                <a:cs typeface="Arial" panose="020B0604020202020204" pitchFamily="34" charset="0"/>
              </a:rPr>
              <a:t> – Principles and best practices</a:t>
            </a:r>
          </a:p>
          <a:p>
            <a:pPr marL="457200" lvl="0" indent="-457200" eaLnBrk="0" fontAlgn="base" hangingPunct="0">
              <a:lnSpc>
                <a:spcPct val="170000"/>
              </a:lnSpc>
              <a:spcBef>
                <a:spcPct val="0"/>
              </a:spcBef>
              <a:spcAft>
                <a:spcPct val="0"/>
              </a:spcAft>
              <a:buFont typeface="+mj-lt"/>
              <a:buAutoNum type="arabicPeriod"/>
            </a:pPr>
            <a:r>
              <a:rPr lang="en-US" altLang="en-US" sz="2400" b="1" dirty="0">
                <a:latin typeface="Arial" panose="020B0604020202020204" pitchFamily="34" charset="0"/>
                <a:cs typeface="Arial" panose="020B0604020202020204" pitchFamily="34" charset="0"/>
              </a:rPr>
              <a:t>Security &amp; Scaling</a:t>
            </a:r>
            <a:r>
              <a:rPr lang="en-US" altLang="en-US" sz="2400" dirty="0">
                <a:latin typeface="Arial" panose="020B0604020202020204" pitchFamily="34" charset="0"/>
                <a:cs typeface="Arial" panose="020B0604020202020204" pitchFamily="34" charset="0"/>
              </a:rPr>
              <a:t> – Protecting and growing pipelines</a:t>
            </a:r>
          </a:p>
          <a:p>
            <a:pPr marL="457200" lvl="0" indent="-457200" eaLnBrk="0" fontAlgn="base" hangingPunct="0">
              <a:lnSpc>
                <a:spcPct val="170000"/>
              </a:lnSpc>
              <a:spcBef>
                <a:spcPct val="0"/>
              </a:spcBef>
              <a:spcAft>
                <a:spcPct val="0"/>
              </a:spcAft>
              <a:buFont typeface="+mj-lt"/>
              <a:buAutoNum type="arabicPeriod"/>
            </a:pPr>
            <a:r>
              <a:rPr lang="en-US" altLang="en-US" sz="2400" b="1" dirty="0">
                <a:latin typeface="Arial" panose="020B0604020202020204" pitchFamily="34" charset="0"/>
                <a:cs typeface="Arial" panose="020B0604020202020204" pitchFamily="34" charset="0"/>
              </a:rPr>
              <a:t>Data Ingestion</a:t>
            </a:r>
            <a:r>
              <a:rPr lang="en-US" altLang="en-US" sz="2400" dirty="0">
                <a:latin typeface="Arial" panose="020B0604020202020204" pitchFamily="34" charset="0"/>
                <a:cs typeface="Arial" panose="020B0604020202020204" pitchFamily="34" charset="0"/>
              </a:rPr>
              <a:t> – Collecting and preparing data</a:t>
            </a:r>
          </a:p>
          <a:p>
            <a:pPr marL="457200" lvl="0" indent="-457200" eaLnBrk="0" fontAlgn="base" hangingPunct="0">
              <a:lnSpc>
                <a:spcPct val="170000"/>
              </a:lnSpc>
              <a:spcBef>
                <a:spcPct val="0"/>
              </a:spcBef>
              <a:spcAft>
                <a:spcPct val="0"/>
              </a:spcAft>
              <a:buFont typeface="+mj-lt"/>
              <a:buAutoNum type="arabicPeriod"/>
            </a:pPr>
            <a:r>
              <a:rPr lang="en-US" altLang="en-US" sz="2400" b="1" dirty="0">
                <a:latin typeface="Arial" panose="020B0604020202020204" pitchFamily="34" charset="0"/>
                <a:cs typeface="Arial" panose="020B0604020202020204" pitchFamily="34" charset="0"/>
              </a:rPr>
              <a:t>Batch &amp; Stream Ingestion</a:t>
            </a:r>
            <a:r>
              <a:rPr lang="en-US" altLang="en-US" sz="2400" dirty="0">
                <a:latin typeface="Arial" panose="020B0604020202020204" pitchFamily="34" charset="0"/>
                <a:cs typeface="Arial" panose="020B0604020202020204" pitchFamily="34" charset="0"/>
              </a:rPr>
              <a:t> – Processing real-time and historical data</a:t>
            </a:r>
          </a:p>
          <a:p>
            <a:pPr marL="457200" lvl="0" indent="-457200" eaLnBrk="0" fontAlgn="base" hangingPunct="0">
              <a:lnSpc>
                <a:spcPct val="170000"/>
              </a:lnSpc>
              <a:spcBef>
                <a:spcPct val="0"/>
              </a:spcBef>
              <a:spcAft>
                <a:spcPct val="0"/>
              </a:spcAft>
              <a:buFont typeface="+mj-lt"/>
              <a:buAutoNum type="arabicPeriod"/>
            </a:pPr>
            <a:r>
              <a:rPr lang="en-US" altLang="en-US" sz="2400" b="1" dirty="0">
                <a:latin typeface="Arial" panose="020B0604020202020204" pitchFamily="34" charset="0"/>
                <a:cs typeface="Arial" panose="020B0604020202020204" pitchFamily="34" charset="0"/>
              </a:rPr>
              <a:t>Storing &amp; Organizing Data</a:t>
            </a:r>
            <a:r>
              <a:rPr lang="en-US" altLang="en-US" sz="2400" dirty="0">
                <a:latin typeface="Arial" panose="020B0604020202020204" pitchFamily="34" charset="0"/>
                <a:cs typeface="Arial" panose="020B0604020202020204" pitchFamily="34" charset="0"/>
              </a:rPr>
              <a:t> – Efficient data management</a:t>
            </a:r>
          </a:p>
          <a:p>
            <a:pPr marL="457200" lvl="0" indent="-457200" eaLnBrk="0" fontAlgn="base" hangingPunct="0">
              <a:lnSpc>
                <a:spcPct val="170000"/>
              </a:lnSpc>
              <a:spcBef>
                <a:spcPct val="0"/>
              </a:spcBef>
              <a:spcAft>
                <a:spcPct val="0"/>
              </a:spcAft>
              <a:buFont typeface="+mj-lt"/>
              <a:buAutoNum type="arabicPeriod"/>
            </a:pPr>
            <a:r>
              <a:rPr lang="en-US" altLang="en-US" sz="2400" b="1" dirty="0">
                <a:latin typeface="Arial" panose="020B0604020202020204" pitchFamily="34" charset="0"/>
                <a:cs typeface="Arial" panose="020B0604020202020204" pitchFamily="34" charset="0"/>
              </a:rPr>
              <a:t>Processing Big Data</a:t>
            </a:r>
            <a:r>
              <a:rPr lang="en-US" altLang="en-US" sz="2400" dirty="0">
                <a:latin typeface="Arial" panose="020B0604020202020204" pitchFamily="34" charset="0"/>
                <a:cs typeface="Arial" panose="020B0604020202020204" pitchFamily="34" charset="0"/>
              </a:rPr>
              <a:t> – Handling large datasets</a:t>
            </a:r>
          </a:p>
          <a:p>
            <a:pPr marL="457200" lvl="0" indent="-457200" eaLnBrk="0" fontAlgn="base" hangingPunct="0">
              <a:lnSpc>
                <a:spcPct val="170000"/>
              </a:lnSpc>
              <a:spcBef>
                <a:spcPct val="0"/>
              </a:spcBef>
              <a:spcAft>
                <a:spcPct val="0"/>
              </a:spcAft>
              <a:buFont typeface="+mj-lt"/>
              <a:buAutoNum type="arabicPeriod"/>
            </a:pPr>
            <a:r>
              <a:rPr lang="en-US" altLang="en-US" sz="2400" b="1" dirty="0">
                <a:latin typeface="Arial" panose="020B0604020202020204" pitchFamily="34" charset="0"/>
                <a:cs typeface="Arial" panose="020B0604020202020204" pitchFamily="34" charset="0"/>
              </a:rPr>
              <a:t>ML Data Preparation</a:t>
            </a:r>
            <a:r>
              <a:rPr lang="en-US" altLang="en-US" sz="2400" dirty="0">
                <a:latin typeface="Arial" panose="020B0604020202020204" pitchFamily="34" charset="0"/>
                <a:cs typeface="Arial" panose="020B0604020202020204" pitchFamily="34" charset="0"/>
              </a:rPr>
              <a:t> – Preparing data for machine learning</a:t>
            </a:r>
          </a:p>
          <a:p>
            <a:pPr marL="457200" lvl="0" indent="-457200" eaLnBrk="0" fontAlgn="base" hangingPunct="0">
              <a:lnSpc>
                <a:spcPct val="170000"/>
              </a:lnSpc>
              <a:spcBef>
                <a:spcPct val="0"/>
              </a:spcBef>
              <a:spcAft>
                <a:spcPct val="0"/>
              </a:spcAft>
              <a:buFont typeface="+mj-lt"/>
              <a:buAutoNum type="arabicPeriod"/>
            </a:pPr>
            <a:r>
              <a:rPr lang="en-US" altLang="en-US" sz="2400" b="1" dirty="0">
                <a:latin typeface="Arial" panose="020B0604020202020204" pitchFamily="34" charset="0"/>
                <a:cs typeface="Arial" panose="020B0604020202020204" pitchFamily="34" charset="0"/>
              </a:rPr>
              <a:t>Analysis &amp; Visualization</a:t>
            </a:r>
            <a:r>
              <a:rPr lang="en-US" altLang="en-US" sz="2400" dirty="0">
                <a:latin typeface="Arial" panose="020B0604020202020204" pitchFamily="34" charset="0"/>
                <a:cs typeface="Arial" panose="020B0604020202020204" pitchFamily="34" charset="0"/>
              </a:rPr>
              <a:t> – Extracting insights from data</a:t>
            </a:r>
          </a:p>
          <a:p>
            <a:pPr marL="457200" lvl="0" indent="-457200" eaLnBrk="0" fontAlgn="base" hangingPunct="0">
              <a:lnSpc>
                <a:spcPct val="170000"/>
              </a:lnSpc>
              <a:spcBef>
                <a:spcPct val="0"/>
              </a:spcBef>
              <a:spcAft>
                <a:spcPct val="0"/>
              </a:spcAft>
              <a:buFont typeface="+mj-lt"/>
              <a:buAutoNum type="arabicPeriod"/>
            </a:pPr>
            <a:r>
              <a:rPr lang="en-US" altLang="en-US" sz="2400" b="1" dirty="0">
                <a:latin typeface="Arial" panose="020B0604020202020204" pitchFamily="34" charset="0"/>
                <a:cs typeface="Arial" panose="020B0604020202020204" pitchFamily="34" charset="0"/>
              </a:rPr>
              <a:t>Automation</a:t>
            </a:r>
            <a:r>
              <a:rPr lang="en-US" altLang="en-US" sz="2400" dirty="0">
                <a:latin typeface="Arial" panose="020B0604020202020204" pitchFamily="34" charset="0"/>
                <a:cs typeface="Arial" panose="020B0604020202020204" pitchFamily="34" charset="0"/>
              </a:rPr>
              <a:t> – Streamlining workflows and pipelines</a:t>
            </a:r>
          </a:p>
          <a:p>
            <a:endParaRPr lang="en-IN" dirty="0"/>
          </a:p>
        </p:txBody>
      </p:sp>
    </p:spTree>
    <p:extLst>
      <p:ext uri="{BB962C8B-B14F-4D97-AF65-F5344CB8AC3E}">
        <p14:creationId xmlns:p14="http://schemas.microsoft.com/office/powerpoint/2010/main" val="9635106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94186" y="703696"/>
            <a:ext cx="6005186" cy="3359340"/>
          </a:xfrm>
        </p:spPr>
        <p:txBody>
          <a:bodyPr>
            <a:normAutofit/>
          </a:bodyPr>
          <a:lstStyle/>
          <a:p>
            <a:r>
              <a:rPr lang="en-IN" sz="4000" cap="none"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Ca</a:t>
            </a:r>
            <a:r>
              <a:rPr sz="4000" cap="none"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se Study</a:t>
            </a:r>
            <a:r>
              <a:rPr cap="none"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a:t>
            </a:r>
            <a:r>
              <a:rPr lang="en-IN" cap="none"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 </a:t>
            </a:r>
            <a:r>
              <a:rPr sz="4000" cap="none"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Cloud-Based Food Donation</a:t>
            </a:r>
            <a:r>
              <a:rPr lang="en-IN" sz="4000" cap="none"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 </a:t>
            </a:r>
            <a:r>
              <a:rPr sz="4000" cap="none"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Tracking System using AWS</a:t>
            </a:r>
          </a:p>
        </p:txBody>
      </p:sp>
      <p:sp>
        <p:nvSpPr>
          <p:cNvPr id="3" name="Subtitle 2"/>
          <p:cNvSpPr>
            <a:spLocks noGrp="1"/>
          </p:cNvSpPr>
          <p:nvPr>
            <p:ph type="subTitle" idx="1"/>
          </p:nvPr>
        </p:nvSpPr>
        <p:spPr>
          <a:xfrm>
            <a:off x="1425240" y="4482391"/>
            <a:ext cx="5917679" cy="861420"/>
          </a:xfrm>
        </p:spPr>
        <p:style>
          <a:lnRef idx="2">
            <a:schemeClr val="dk1">
              <a:shade val="15000"/>
            </a:schemeClr>
          </a:lnRef>
          <a:fillRef idx="1">
            <a:schemeClr val="dk1"/>
          </a:fillRef>
          <a:effectRef idx="0">
            <a:schemeClr val="dk1"/>
          </a:effectRef>
          <a:fontRef idx="minor">
            <a:schemeClr val="lt1"/>
          </a:fontRef>
        </p:style>
        <p:txBody>
          <a:bodyPr/>
          <a:lstStyle/>
          <a:p>
            <a:r>
              <a:rPr dirty="0">
                <a:solidFill>
                  <a:schemeClr val="accent6"/>
                </a:solidFill>
              </a:rPr>
              <a:t>A real-time food donation management solution using AWS services</a:t>
            </a:r>
          </a:p>
        </p:txBody>
      </p:sp>
      <p:sp>
        <p:nvSpPr>
          <p:cNvPr id="4" name="Arrow: Right 3">
            <a:extLst>
              <a:ext uri="{FF2B5EF4-FFF2-40B4-BE49-F238E27FC236}">
                <a16:creationId xmlns:a16="http://schemas.microsoft.com/office/drawing/2014/main" id="{2B0B92DB-0F00-4883-CCC8-DB6E2B5C596D}"/>
              </a:ext>
            </a:extLst>
          </p:cNvPr>
          <p:cNvSpPr/>
          <p:nvPr/>
        </p:nvSpPr>
        <p:spPr>
          <a:xfrm>
            <a:off x="1089386" y="4521707"/>
            <a:ext cx="304800" cy="2540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Arrow: Right 4">
            <a:extLst>
              <a:ext uri="{FF2B5EF4-FFF2-40B4-BE49-F238E27FC236}">
                <a16:creationId xmlns:a16="http://schemas.microsoft.com/office/drawing/2014/main" id="{1D2480EC-9EC6-D934-8ED9-E3D528BA87F0}"/>
              </a:ext>
            </a:extLst>
          </p:cNvPr>
          <p:cNvSpPr/>
          <p:nvPr/>
        </p:nvSpPr>
        <p:spPr>
          <a:xfrm>
            <a:off x="1058333" y="2277533"/>
            <a:ext cx="366907" cy="21166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833884F5-C8E9-6D60-011A-9652D34EA428}"/>
              </a:ext>
            </a:extLst>
          </p:cNvPr>
          <p:cNvSpPr txBox="1"/>
          <p:nvPr/>
        </p:nvSpPr>
        <p:spPr>
          <a:xfrm>
            <a:off x="1569641" y="800795"/>
            <a:ext cx="3915053" cy="707886"/>
          </a:xfrm>
          <a:prstGeom prst="rect">
            <a:avLst/>
          </a:prstGeom>
          <a:noFill/>
        </p:spPr>
        <p:txBody>
          <a:bodyPr wrap="square" rtlCol="0">
            <a:spAutoFit/>
          </a:bodyPr>
          <a:lstStyle/>
          <a:p>
            <a:r>
              <a:rPr lang="en-IN" sz="4000" u="sng" dirty="0">
                <a:ln w="0"/>
                <a:solidFill>
                  <a:schemeClr val="accent1"/>
                </a:solidFill>
                <a:effectLst>
                  <a:outerShdw blurRad="38100" dist="25400" dir="5400000" algn="ctr" rotWithShape="0">
                    <a:srgbClr val="6E747A">
                      <a:alpha val="43000"/>
                    </a:srgbClr>
                  </a:outerShdw>
                </a:effectLst>
              </a:rPr>
              <a:t>MINI PROJECT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9571"/>
            <a:ext cx="4942567" cy="962742"/>
          </a:xfrm>
        </p:spPr>
        <p:txBody>
          <a:bodyPr/>
          <a:lstStyle/>
          <a:p>
            <a:r>
              <a:rPr u="sng" dirty="0"/>
              <a:t>Aim &amp; Objectives</a:t>
            </a:r>
          </a:p>
        </p:txBody>
      </p:sp>
      <p:sp>
        <p:nvSpPr>
          <p:cNvPr id="3" name="Content Placeholder 2"/>
          <p:cNvSpPr>
            <a:spLocks noGrp="1"/>
          </p:cNvSpPr>
          <p:nvPr>
            <p:ph idx="1"/>
          </p:nvPr>
        </p:nvSpPr>
        <p:spPr>
          <a:xfrm>
            <a:off x="171573" y="1012313"/>
            <a:ext cx="7955280" cy="5437648"/>
          </a:xfrm>
        </p:spPr>
        <p:txBody>
          <a:bodyPr>
            <a:normAutofit fontScale="85000" lnSpcReduction="20000"/>
          </a:bodyPr>
          <a:lstStyle/>
          <a:p>
            <a:r>
              <a:rPr lang="en-US" b="1" u="sng" dirty="0"/>
              <a:t>Project Aim</a:t>
            </a:r>
            <a:r>
              <a:rPr lang="en-US" dirty="0"/>
              <a:t>: </a:t>
            </a:r>
          </a:p>
          <a:p>
            <a:pPr marL="0" indent="0" algn="just">
              <a:buNone/>
            </a:pPr>
            <a:r>
              <a:rPr lang="en-US" dirty="0"/>
              <a:t>Develop a </a:t>
            </a:r>
            <a:r>
              <a:rPr lang="en-US" b="1" dirty="0"/>
              <a:t>cloud-based web application</a:t>
            </a:r>
            <a:r>
              <a:rPr lang="en-US" dirty="0"/>
              <a:t> for tracking and managing food donations.</a:t>
            </a:r>
          </a:p>
          <a:p>
            <a:r>
              <a:rPr lang="en-US" b="1" u="sng" dirty="0"/>
              <a:t>User Functionality</a:t>
            </a:r>
            <a:r>
              <a:rPr lang="en-US" dirty="0"/>
              <a:t>:</a:t>
            </a:r>
          </a:p>
          <a:p>
            <a:pPr marL="0" indent="0" algn="just">
              <a:buNone/>
            </a:pPr>
            <a:r>
              <a:rPr lang="en-US" dirty="0"/>
              <a:t>Donors can </a:t>
            </a:r>
            <a:r>
              <a:rPr lang="en-US" b="1" dirty="0"/>
              <a:t>submit donation details</a:t>
            </a:r>
            <a:r>
              <a:rPr lang="en-US" dirty="0"/>
              <a:t> via a web interface.</a:t>
            </a:r>
          </a:p>
          <a:p>
            <a:r>
              <a:rPr lang="en-US" b="1" u="sng" dirty="0"/>
              <a:t>Data Handling</a:t>
            </a:r>
            <a:r>
              <a:rPr lang="en-US" dirty="0"/>
              <a:t>:</a:t>
            </a:r>
          </a:p>
          <a:p>
            <a:pPr marL="0" indent="0">
              <a:buNone/>
            </a:pPr>
            <a:r>
              <a:rPr lang="en-US" dirty="0"/>
              <a:t>Donation records stored in </a:t>
            </a:r>
            <a:r>
              <a:rPr lang="en-US" b="1" dirty="0"/>
              <a:t>AWS DynamoDB</a:t>
            </a:r>
            <a:r>
              <a:rPr lang="en-US" dirty="0"/>
              <a:t>.</a:t>
            </a:r>
          </a:p>
          <a:p>
            <a:r>
              <a:rPr lang="en-US" b="1" u="sng" dirty="0"/>
              <a:t>Real-Time Updates</a:t>
            </a:r>
            <a:r>
              <a:rPr lang="en-US" dirty="0"/>
              <a:t>:</a:t>
            </a:r>
          </a:p>
          <a:p>
            <a:pPr marL="0" indent="0" algn="just">
              <a:buNone/>
            </a:pPr>
            <a:r>
              <a:rPr lang="en-US" dirty="0"/>
              <a:t>Submissions are shown instantly on a </a:t>
            </a:r>
            <a:r>
              <a:rPr lang="en-US" b="1" dirty="0"/>
              <a:t>live dashboard</a:t>
            </a:r>
            <a:r>
              <a:rPr lang="en-US" dirty="0"/>
              <a:t>.</a:t>
            </a:r>
          </a:p>
          <a:p>
            <a:r>
              <a:rPr lang="en-US" b="1" u="sng" dirty="0"/>
              <a:t>Cloud Benefits</a:t>
            </a:r>
            <a:r>
              <a:rPr lang="en-US" dirty="0"/>
              <a:t>:</a:t>
            </a:r>
          </a:p>
          <a:p>
            <a:pPr marL="0" indent="0" algn="just">
              <a:buNone/>
            </a:pPr>
            <a:r>
              <a:rPr lang="en-US" dirty="0"/>
              <a:t>Leverages AWS for </a:t>
            </a:r>
            <a:r>
              <a:rPr lang="en-US" b="1" dirty="0"/>
              <a:t>scalability, accessibility, and real-time performance</a:t>
            </a:r>
            <a:r>
              <a:rPr lang="en-US" dirty="0"/>
              <a:t>.</a:t>
            </a:r>
            <a:endParaRPr lang="en-IN" dirty="0"/>
          </a:p>
          <a:p>
            <a:r>
              <a:rPr b="1" u="sng" dirty="0"/>
              <a:t>Objectives</a:t>
            </a:r>
            <a:r>
              <a:rPr dirty="0"/>
              <a:t>:</a:t>
            </a:r>
            <a:endParaRPr lang="en-IN" dirty="0"/>
          </a:p>
          <a:p>
            <a:pPr marL="0" indent="0">
              <a:buNone/>
            </a:pPr>
            <a:r>
              <a:rPr dirty="0"/>
              <a:t>Real-time updates without refresh</a:t>
            </a:r>
            <a:r>
              <a:rPr lang="en-US" dirty="0"/>
              <a:t>.</a:t>
            </a:r>
            <a:endParaRPr dirty="0"/>
          </a:p>
          <a:p>
            <a:pPr marL="0" indent="0">
              <a:buNone/>
            </a:pPr>
            <a:r>
              <a:rPr dirty="0"/>
              <a:t>Serverless, scalable backend</a:t>
            </a:r>
            <a:r>
              <a:rPr lang="en-US" dirty="0"/>
              <a:t>.</a:t>
            </a:r>
            <a:endParaRPr dirty="0"/>
          </a:p>
          <a:p>
            <a:pPr marL="0" indent="0">
              <a:buNone/>
            </a:pPr>
            <a:r>
              <a:rPr dirty="0"/>
              <a:t>Public web access</a:t>
            </a:r>
            <a:r>
              <a:rPr lang="en-US" dirty="0"/>
              <a:t>.</a:t>
            </a:r>
            <a:endParaRPr dirty="0"/>
          </a:p>
          <a:p>
            <a:pPr marL="0" indent="0">
              <a:buNone/>
            </a:pPr>
            <a:r>
              <a:rPr dirty="0"/>
              <a:t>Secure resource access</a:t>
            </a:r>
            <a:r>
              <a:rPr lang="en-US" dirty="0"/>
              <a:t>.</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5802261" cy="1293028"/>
          </a:xfrm>
        </p:spPr>
        <p:txBody>
          <a:bodyPr/>
          <a:lstStyle/>
          <a:p>
            <a:r>
              <a:rPr u="sng" dirty="0"/>
              <a:t>System Architecture</a:t>
            </a:r>
          </a:p>
        </p:txBody>
      </p:sp>
      <p:sp>
        <p:nvSpPr>
          <p:cNvPr id="3" name="Content Placeholder 2"/>
          <p:cNvSpPr>
            <a:spLocks noGrp="1"/>
          </p:cNvSpPr>
          <p:nvPr>
            <p:ph idx="1"/>
          </p:nvPr>
        </p:nvSpPr>
        <p:spPr>
          <a:xfrm>
            <a:off x="171573" y="1211334"/>
            <a:ext cx="7955280" cy="4069080"/>
          </a:xfrm>
        </p:spPr>
        <p:txBody>
          <a:bodyPr>
            <a:normAutofit/>
          </a:bodyPr>
          <a:lstStyle/>
          <a:p>
            <a:pPr algn="just">
              <a:lnSpc>
                <a:spcPct val="150000"/>
              </a:lnSpc>
            </a:pPr>
            <a:r>
              <a:rPr u="sng" dirty="0"/>
              <a:t>Frontend</a:t>
            </a:r>
            <a:r>
              <a:rPr dirty="0"/>
              <a:t>:</a:t>
            </a:r>
          </a:p>
          <a:p>
            <a:pPr marL="0" indent="0" algn="just">
              <a:lnSpc>
                <a:spcPct val="150000"/>
              </a:lnSpc>
              <a:buNone/>
            </a:pPr>
            <a:r>
              <a:rPr dirty="0"/>
              <a:t>Static website hosted on Amazon S3</a:t>
            </a:r>
          </a:p>
          <a:p>
            <a:pPr algn="just">
              <a:lnSpc>
                <a:spcPct val="150000"/>
              </a:lnSpc>
            </a:pPr>
            <a:r>
              <a:rPr u="sng" dirty="0"/>
              <a:t>Backend</a:t>
            </a:r>
            <a:r>
              <a:rPr dirty="0"/>
              <a:t>:</a:t>
            </a:r>
          </a:p>
          <a:p>
            <a:pPr marL="0" indent="0" algn="just">
              <a:lnSpc>
                <a:spcPct val="150000"/>
              </a:lnSpc>
              <a:buNone/>
            </a:pPr>
            <a:r>
              <a:rPr dirty="0"/>
              <a:t>AWS Lambda functions process donations</a:t>
            </a:r>
          </a:p>
          <a:p>
            <a:pPr algn="just">
              <a:lnSpc>
                <a:spcPct val="150000"/>
              </a:lnSpc>
            </a:pPr>
            <a:r>
              <a:rPr u="sng" dirty="0"/>
              <a:t>Data stored in Amazon DynamoDB</a:t>
            </a:r>
            <a:r>
              <a:rPr lang="en-US" u="sng" dirty="0"/>
              <a:t>:</a:t>
            </a:r>
            <a:endParaRPr u="sng" dirty="0"/>
          </a:p>
          <a:p>
            <a:pPr marL="0" indent="0" algn="just">
              <a:lnSpc>
                <a:spcPct val="150000"/>
              </a:lnSpc>
              <a:buNone/>
            </a:pPr>
            <a:r>
              <a:rPr dirty="0"/>
              <a:t>API Gateway connects frontend and backend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837" y="21273"/>
            <a:ext cx="4742467" cy="1146174"/>
          </a:xfrm>
        </p:spPr>
        <p:txBody>
          <a:bodyPr/>
          <a:lstStyle/>
          <a:p>
            <a:pPr algn="l"/>
            <a:r>
              <a:rPr u="sng" dirty="0"/>
              <a:t>Key AWS Services</a:t>
            </a:r>
          </a:p>
        </p:txBody>
      </p:sp>
      <p:sp>
        <p:nvSpPr>
          <p:cNvPr id="3" name="Content Placeholder 2"/>
          <p:cNvSpPr>
            <a:spLocks noGrp="1"/>
          </p:cNvSpPr>
          <p:nvPr>
            <p:ph idx="1"/>
          </p:nvPr>
        </p:nvSpPr>
        <p:spPr>
          <a:xfrm>
            <a:off x="104837" y="1039002"/>
            <a:ext cx="8934326" cy="4899682"/>
          </a:xfrm>
        </p:spPr>
        <p:txBody>
          <a:bodyPr>
            <a:normAutofit/>
          </a:bodyPr>
          <a:lstStyle/>
          <a:p>
            <a:r>
              <a:rPr u="sng" dirty="0"/>
              <a:t>Amazon S3</a:t>
            </a:r>
            <a:r>
              <a:rPr dirty="0"/>
              <a:t>:</a:t>
            </a:r>
            <a:r>
              <a:rPr lang="en-US" dirty="0"/>
              <a:t> Hosts your static frontend website (HTML, CSS, JS) and serves it to users over the internet.</a:t>
            </a:r>
            <a:endParaRPr dirty="0"/>
          </a:p>
          <a:p>
            <a:r>
              <a:rPr u="sng" dirty="0"/>
              <a:t>DynamoDB</a:t>
            </a:r>
            <a:r>
              <a:rPr dirty="0"/>
              <a:t>: </a:t>
            </a:r>
            <a:r>
              <a:rPr lang="en-US" dirty="0"/>
              <a:t>A fully managed NoSQL database where all the donation records are stored and retrieved in real time.</a:t>
            </a:r>
            <a:endParaRPr dirty="0"/>
          </a:p>
          <a:p>
            <a:r>
              <a:rPr u="sng" dirty="0"/>
              <a:t>Lambda</a:t>
            </a:r>
            <a:r>
              <a:rPr dirty="0"/>
              <a:t>:</a:t>
            </a:r>
            <a:r>
              <a:rPr lang="en-US" dirty="0"/>
              <a:t> A serverless compute service that runs your backend code (POST for adding donations and GET for retrieving them) without managing servers.</a:t>
            </a:r>
          </a:p>
          <a:p>
            <a:r>
              <a:rPr u="sng" dirty="0"/>
              <a:t>API </a:t>
            </a:r>
            <a:r>
              <a:rPr u="sng" dirty="0" err="1"/>
              <a:t>Gate</a:t>
            </a:r>
            <a:r>
              <a:rPr lang="en-US" u="sng" dirty="0" err="1"/>
              <a:t>_</a:t>
            </a:r>
            <a:r>
              <a:rPr u="sng" dirty="0" err="1"/>
              <a:t>way</a:t>
            </a:r>
            <a:r>
              <a:rPr dirty="0"/>
              <a:t>:</a:t>
            </a:r>
            <a:r>
              <a:rPr lang="en-US" dirty="0"/>
              <a:t> Provides REST API endpoints that connect your frontend (website) with Lambda functions.</a:t>
            </a:r>
          </a:p>
          <a:p>
            <a:r>
              <a:rPr u="sng" dirty="0"/>
              <a:t>IAM</a:t>
            </a:r>
            <a:r>
              <a:rPr dirty="0"/>
              <a:t>: </a:t>
            </a:r>
            <a:r>
              <a:rPr lang="en-US" dirty="0"/>
              <a:t>Provides permissions (policies attached to Lambda’s execution role) so that Lambda functions can securely read/write data in DynamoDB.</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08A013-5E37-291F-CA25-5C73536B2DDD}"/>
              </a:ext>
            </a:extLst>
          </p:cNvPr>
          <p:cNvSpPr>
            <a:spLocks noGrp="1"/>
          </p:cNvSpPr>
          <p:nvPr>
            <p:ph idx="1"/>
          </p:nvPr>
        </p:nvSpPr>
        <p:spPr>
          <a:xfrm>
            <a:off x="73251" y="703825"/>
            <a:ext cx="7955280" cy="5342467"/>
          </a:xfrm>
        </p:spPr>
        <p:txBody>
          <a:bodyPr>
            <a:normAutofit/>
          </a:bodyPr>
          <a:lstStyle/>
          <a:p>
            <a:pPr marL="124460" indent="-121920">
              <a:lnSpc>
                <a:spcPct val="100000"/>
              </a:lnSpc>
              <a:spcBef>
                <a:spcPts val="940"/>
              </a:spcBef>
              <a:buSzPct val="91666"/>
              <a:buAutoNum type="arabicPeriod"/>
              <a:tabLst>
                <a:tab pos="124460" algn="l"/>
              </a:tabLst>
            </a:pPr>
            <a:r>
              <a:rPr lang="en-US" sz="2000" b="1" u="sng" dirty="0">
                <a:latin typeface="Calibri"/>
                <a:cs typeface="Calibri"/>
              </a:rPr>
              <a:t>Creating</a:t>
            </a:r>
            <a:r>
              <a:rPr lang="en-US" sz="2000" b="1" u="sng" spc="-40" dirty="0">
                <a:latin typeface="Calibri"/>
                <a:cs typeface="Calibri"/>
              </a:rPr>
              <a:t> </a:t>
            </a:r>
            <a:r>
              <a:rPr lang="en-US" sz="2000" b="1" u="sng" dirty="0">
                <a:latin typeface="Calibri"/>
                <a:cs typeface="Calibri"/>
              </a:rPr>
              <a:t>the</a:t>
            </a:r>
            <a:r>
              <a:rPr lang="en-US" sz="2000" b="1" u="sng" spc="-45" dirty="0">
                <a:latin typeface="Calibri"/>
                <a:cs typeface="Calibri"/>
              </a:rPr>
              <a:t> </a:t>
            </a:r>
            <a:r>
              <a:rPr lang="en-US" sz="2000" b="1" u="sng" dirty="0">
                <a:latin typeface="Calibri"/>
                <a:cs typeface="Calibri"/>
              </a:rPr>
              <a:t>DynamoDB</a:t>
            </a:r>
            <a:r>
              <a:rPr lang="en-US" sz="2000" b="1" u="sng" spc="-40" dirty="0">
                <a:latin typeface="Calibri"/>
                <a:cs typeface="Calibri"/>
              </a:rPr>
              <a:t> </a:t>
            </a:r>
            <a:r>
              <a:rPr lang="en-US" sz="2000" b="1" u="sng" spc="-20" dirty="0">
                <a:latin typeface="Calibri"/>
                <a:cs typeface="Calibri"/>
              </a:rPr>
              <a:t>Table</a:t>
            </a:r>
            <a:endParaRPr lang="en-US" sz="2000" u="sng" dirty="0">
              <a:latin typeface="Calibri"/>
              <a:cs typeface="Calibri"/>
            </a:endParaRPr>
          </a:p>
          <a:p>
            <a:pPr marL="216535">
              <a:lnSpc>
                <a:spcPct val="100000"/>
              </a:lnSpc>
              <a:spcBef>
                <a:spcPts val="960"/>
              </a:spcBef>
            </a:pPr>
            <a:r>
              <a:rPr lang="en-US" sz="2000" spc="-10" dirty="0">
                <a:latin typeface="Calibri"/>
                <a:cs typeface="Calibri"/>
              </a:rPr>
              <a:t>Created</a:t>
            </a:r>
            <a:r>
              <a:rPr lang="en-US" sz="2000" spc="-35" dirty="0">
                <a:latin typeface="Calibri"/>
                <a:cs typeface="Calibri"/>
              </a:rPr>
              <a:t> </a:t>
            </a:r>
            <a:r>
              <a:rPr lang="en-US" sz="2000" dirty="0">
                <a:latin typeface="Calibri"/>
                <a:cs typeface="Calibri"/>
              </a:rPr>
              <a:t>a table named</a:t>
            </a:r>
            <a:r>
              <a:rPr lang="en-US" sz="2000" spc="-30" dirty="0">
                <a:latin typeface="Calibri"/>
                <a:cs typeface="Calibri"/>
              </a:rPr>
              <a:t> </a:t>
            </a:r>
            <a:r>
              <a:rPr lang="en-US" sz="2000" spc="-10" dirty="0">
                <a:latin typeface="Calibri"/>
                <a:cs typeface="Calibri"/>
              </a:rPr>
              <a:t>FoodInventory</a:t>
            </a:r>
            <a:r>
              <a:rPr lang="en-US" sz="2000" spc="-20" dirty="0">
                <a:latin typeface="Calibri"/>
                <a:cs typeface="Calibri"/>
              </a:rPr>
              <a:t> </a:t>
            </a:r>
            <a:r>
              <a:rPr lang="en-US" sz="2000" dirty="0">
                <a:latin typeface="Calibri"/>
                <a:cs typeface="Calibri"/>
              </a:rPr>
              <a:t>with</a:t>
            </a:r>
            <a:r>
              <a:rPr lang="en-US" sz="2000" spc="-30" dirty="0">
                <a:latin typeface="Calibri"/>
                <a:cs typeface="Calibri"/>
              </a:rPr>
              <a:t> </a:t>
            </a:r>
            <a:r>
              <a:rPr lang="en-US" sz="2000" dirty="0">
                <a:latin typeface="Calibri"/>
                <a:cs typeface="Calibri"/>
              </a:rPr>
              <a:t>ItemID</a:t>
            </a:r>
            <a:r>
              <a:rPr lang="en-US" sz="2000" spc="-20" dirty="0">
                <a:latin typeface="Calibri"/>
                <a:cs typeface="Calibri"/>
              </a:rPr>
              <a:t> </a:t>
            </a:r>
            <a:r>
              <a:rPr lang="en-US" sz="2000" dirty="0">
                <a:latin typeface="Calibri"/>
                <a:cs typeface="Calibri"/>
              </a:rPr>
              <a:t>as</a:t>
            </a:r>
            <a:r>
              <a:rPr lang="en-US" sz="2000" spc="-15" dirty="0">
                <a:latin typeface="Calibri"/>
                <a:cs typeface="Calibri"/>
              </a:rPr>
              <a:t> </a:t>
            </a:r>
            <a:r>
              <a:rPr lang="en-US" sz="2000" dirty="0">
                <a:latin typeface="Calibri"/>
                <a:cs typeface="Calibri"/>
              </a:rPr>
              <a:t>the</a:t>
            </a:r>
            <a:r>
              <a:rPr lang="en-US" sz="2000" spc="-20" dirty="0">
                <a:latin typeface="Calibri"/>
                <a:cs typeface="Calibri"/>
              </a:rPr>
              <a:t> </a:t>
            </a:r>
            <a:r>
              <a:rPr lang="en-US" sz="2000" dirty="0">
                <a:latin typeface="Calibri"/>
                <a:cs typeface="Calibri"/>
              </a:rPr>
              <a:t>primary</a:t>
            </a:r>
            <a:r>
              <a:rPr lang="en-US" sz="2000" spc="-20" dirty="0">
                <a:latin typeface="Calibri"/>
                <a:cs typeface="Calibri"/>
              </a:rPr>
              <a:t> key.</a:t>
            </a:r>
            <a:endParaRPr lang="en-US" sz="2000" dirty="0">
              <a:latin typeface="Calibri"/>
              <a:cs typeface="Calibri"/>
            </a:endParaRPr>
          </a:p>
          <a:p>
            <a:pPr marL="124460" indent="-121920">
              <a:lnSpc>
                <a:spcPct val="100000"/>
              </a:lnSpc>
              <a:spcBef>
                <a:spcPts val="935"/>
              </a:spcBef>
              <a:buSzPct val="91666"/>
              <a:buAutoNum type="arabicPeriod" startAt="2"/>
              <a:tabLst>
                <a:tab pos="124460" algn="l"/>
              </a:tabLst>
            </a:pPr>
            <a:r>
              <a:rPr lang="en-US" sz="2000" b="1" u="sng" spc="-10" dirty="0">
                <a:latin typeface="Calibri"/>
                <a:cs typeface="Calibri"/>
              </a:rPr>
              <a:t>Configuring</a:t>
            </a:r>
            <a:r>
              <a:rPr lang="en-US" sz="2000" b="1" u="sng" spc="20" dirty="0">
                <a:latin typeface="Calibri"/>
                <a:cs typeface="Calibri"/>
              </a:rPr>
              <a:t> </a:t>
            </a:r>
            <a:r>
              <a:rPr lang="en-US" sz="2000" b="1" u="sng" spc="-10" dirty="0">
                <a:latin typeface="Calibri"/>
                <a:cs typeface="Calibri"/>
              </a:rPr>
              <a:t>Permissions</a:t>
            </a:r>
            <a:endParaRPr lang="en-US" sz="2000" u="sng" dirty="0">
              <a:latin typeface="Calibri"/>
              <a:cs typeface="Calibri"/>
            </a:endParaRPr>
          </a:p>
          <a:p>
            <a:pPr marL="927100" lvl="1">
              <a:lnSpc>
                <a:spcPct val="100000"/>
              </a:lnSpc>
              <a:spcBef>
                <a:spcPts val="935"/>
              </a:spcBef>
              <a:buSzPct val="83333"/>
              <a:buFont typeface="Courier New"/>
              <a:buChar char="o"/>
              <a:tabLst>
                <a:tab pos="927100" algn="l"/>
              </a:tabLst>
            </a:pPr>
            <a:r>
              <a:rPr lang="en-US" spc="-10" dirty="0">
                <a:latin typeface="Calibri"/>
                <a:cs typeface="Calibri"/>
              </a:rPr>
              <a:t>Created</a:t>
            </a:r>
            <a:r>
              <a:rPr lang="en-US" spc="-20" dirty="0">
                <a:latin typeface="Calibri"/>
                <a:cs typeface="Calibri"/>
              </a:rPr>
              <a:t> </a:t>
            </a:r>
            <a:r>
              <a:rPr lang="en-US" dirty="0">
                <a:latin typeface="Calibri"/>
                <a:cs typeface="Calibri"/>
              </a:rPr>
              <a:t>an</a:t>
            </a:r>
            <a:r>
              <a:rPr lang="en-US" spc="-20" dirty="0">
                <a:latin typeface="Calibri"/>
                <a:cs typeface="Calibri"/>
              </a:rPr>
              <a:t> </a:t>
            </a:r>
            <a:r>
              <a:rPr lang="en-US" dirty="0">
                <a:latin typeface="Calibri"/>
                <a:cs typeface="Calibri"/>
              </a:rPr>
              <a:t>IAM</a:t>
            </a:r>
            <a:r>
              <a:rPr lang="en-US" spc="-10" dirty="0">
                <a:latin typeface="Calibri"/>
                <a:cs typeface="Calibri"/>
              </a:rPr>
              <a:t> </a:t>
            </a:r>
            <a:r>
              <a:rPr lang="en-US" dirty="0">
                <a:latin typeface="Calibri"/>
                <a:cs typeface="Calibri"/>
              </a:rPr>
              <a:t>role</a:t>
            </a:r>
            <a:r>
              <a:rPr lang="en-US" spc="-10" dirty="0">
                <a:latin typeface="Calibri"/>
                <a:cs typeface="Calibri"/>
              </a:rPr>
              <a:t> </a:t>
            </a:r>
            <a:r>
              <a:rPr lang="en-US" dirty="0">
                <a:latin typeface="Calibri"/>
                <a:cs typeface="Calibri"/>
              </a:rPr>
              <a:t>for</a:t>
            </a:r>
            <a:r>
              <a:rPr lang="en-US" spc="-25" dirty="0">
                <a:latin typeface="Calibri"/>
                <a:cs typeface="Calibri"/>
              </a:rPr>
              <a:t> </a:t>
            </a:r>
            <a:r>
              <a:rPr lang="en-US" dirty="0">
                <a:latin typeface="Calibri"/>
                <a:cs typeface="Calibri"/>
              </a:rPr>
              <a:t>Lambda</a:t>
            </a:r>
            <a:r>
              <a:rPr lang="en-US" spc="-15" dirty="0">
                <a:latin typeface="Calibri"/>
                <a:cs typeface="Calibri"/>
              </a:rPr>
              <a:t> </a:t>
            </a:r>
            <a:r>
              <a:rPr lang="en-US" dirty="0">
                <a:latin typeface="Calibri"/>
                <a:cs typeface="Calibri"/>
              </a:rPr>
              <a:t>to </a:t>
            </a:r>
            <a:r>
              <a:rPr lang="en-US" spc="-10" dirty="0">
                <a:latin typeface="Calibri"/>
                <a:cs typeface="Calibri"/>
              </a:rPr>
              <a:t>read/write </a:t>
            </a:r>
            <a:r>
              <a:rPr lang="en-US" dirty="0">
                <a:latin typeface="Calibri"/>
                <a:cs typeface="Calibri"/>
              </a:rPr>
              <a:t>to</a:t>
            </a:r>
            <a:r>
              <a:rPr lang="en-US" spc="-20" dirty="0">
                <a:latin typeface="Calibri"/>
                <a:cs typeface="Calibri"/>
              </a:rPr>
              <a:t> </a:t>
            </a:r>
            <a:r>
              <a:rPr lang="en-US" dirty="0">
                <a:latin typeface="Calibri"/>
                <a:cs typeface="Calibri"/>
              </a:rPr>
              <a:t>the</a:t>
            </a:r>
            <a:r>
              <a:rPr lang="en-US" spc="-10" dirty="0">
                <a:latin typeface="Calibri"/>
                <a:cs typeface="Calibri"/>
              </a:rPr>
              <a:t> table</a:t>
            </a:r>
          </a:p>
          <a:p>
            <a:pPr marL="927100" lvl="1">
              <a:lnSpc>
                <a:spcPct val="100000"/>
              </a:lnSpc>
              <a:spcBef>
                <a:spcPts val="935"/>
              </a:spcBef>
              <a:buSzPct val="83333"/>
              <a:buFont typeface="Courier New"/>
              <a:buChar char="o"/>
              <a:tabLst>
                <a:tab pos="927100" algn="l"/>
              </a:tabLst>
            </a:pPr>
            <a:endParaRPr lang="en-IN" sz="3600" dirty="0"/>
          </a:p>
          <a:p>
            <a:pPr marL="927100" lvl="1">
              <a:lnSpc>
                <a:spcPct val="100000"/>
              </a:lnSpc>
              <a:spcBef>
                <a:spcPts val="935"/>
              </a:spcBef>
              <a:buSzPct val="83333"/>
              <a:buFont typeface="Courier New"/>
              <a:buChar char="o"/>
              <a:tabLst>
                <a:tab pos="927100" algn="l"/>
              </a:tabLst>
            </a:pPr>
            <a:endParaRPr lang="en-IN" sz="3600" dirty="0"/>
          </a:p>
          <a:p>
            <a:pPr marL="927100" lvl="1">
              <a:lnSpc>
                <a:spcPct val="100000"/>
              </a:lnSpc>
              <a:spcBef>
                <a:spcPts val="935"/>
              </a:spcBef>
              <a:buSzPct val="83333"/>
              <a:buFont typeface="Courier New"/>
              <a:buChar char="o"/>
              <a:tabLst>
                <a:tab pos="927100" algn="l"/>
              </a:tabLst>
            </a:pPr>
            <a:endParaRPr lang="en-IN" sz="3600" dirty="0"/>
          </a:p>
          <a:p>
            <a:pPr marL="927100" lvl="1">
              <a:lnSpc>
                <a:spcPct val="100000"/>
              </a:lnSpc>
              <a:spcBef>
                <a:spcPts val="935"/>
              </a:spcBef>
              <a:buSzPct val="83333"/>
              <a:buFont typeface="Courier New"/>
              <a:buChar char="o"/>
              <a:tabLst>
                <a:tab pos="927100" algn="l"/>
              </a:tabLst>
            </a:pPr>
            <a:endParaRPr lang="en-IN" sz="3600" dirty="0"/>
          </a:p>
          <a:p>
            <a:pPr marL="698500" lvl="1" indent="0">
              <a:lnSpc>
                <a:spcPct val="100000"/>
              </a:lnSpc>
              <a:spcBef>
                <a:spcPts val="935"/>
              </a:spcBef>
              <a:buSzPct val="83333"/>
              <a:buNone/>
              <a:tabLst>
                <a:tab pos="927100" algn="l"/>
              </a:tabLst>
            </a:pPr>
            <a:r>
              <a:rPr lang="en-IN" sz="2400" b="1" dirty="0">
                <a:latin typeface="Calibri"/>
                <a:cs typeface="Calibri"/>
              </a:rPr>
              <a:t>            </a:t>
            </a:r>
          </a:p>
          <a:p>
            <a:pPr marL="698500" lvl="1" indent="0">
              <a:lnSpc>
                <a:spcPct val="100000"/>
              </a:lnSpc>
              <a:spcBef>
                <a:spcPts val="935"/>
              </a:spcBef>
              <a:buSzPct val="83333"/>
              <a:buNone/>
              <a:tabLst>
                <a:tab pos="927100" algn="l"/>
              </a:tabLst>
            </a:pPr>
            <a:r>
              <a:rPr lang="en-IN" sz="2400" b="1" dirty="0">
                <a:latin typeface="Calibri"/>
                <a:cs typeface="Calibri"/>
              </a:rPr>
              <a:t>              Fig</a:t>
            </a:r>
            <a:r>
              <a:rPr lang="en-IN" sz="2400" b="1" spc="-25" dirty="0">
                <a:latin typeface="Calibri"/>
                <a:cs typeface="Calibri"/>
              </a:rPr>
              <a:t> </a:t>
            </a:r>
            <a:r>
              <a:rPr lang="en-IN" sz="2400" b="1" dirty="0">
                <a:latin typeface="Calibri"/>
                <a:cs typeface="Calibri"/>
              </a:rPr>
              <a:t>A:DYNAMODB</a:t>
            </a:r>
            <a:r>
              <a:rPr lang="en-IN" sz="2400" b="1" spc="-25" dirty="0">
                <a:latin typeface="Calibri"/>
                <a:cs typeface="Calibri"/>
              </a:rPr>
              <a:t> </a:t>
            </a:r>
            <a:r>
              <a:rPr lang="en-IN" sz="2400" b="1" spc="-10" dirty="0">
                <a:latin typeface="Calibri"/>
                <a:cs typeface="Calibri"/>
              </a:rPr>
              <a:t>STRUCTURE</a:t>
            </a:r>
            <a:endParaRPr lang="en-IN" sz="2400" dirty="0">
              <a:latin typeface="Calibri"/>
              <a:cs typeface="Calibri"/>
            </a:endParaRPr>
          </a:p>
          <a:p>
            <a:pPr marL="698500" lvl="1" indent="0">
              <a:lnSpc>
                <a:spcPct val="100000"/>
              </a:lnSpc>
              <a:spcBef>
                <a:spcPts val="935"/>
              </a:spcBef>
              <a:buSzPct val="83333"/>
              <a:buNone/>
              <a:tabLst>
                <a:tab pos="927100" algn="l"/>
              </a:tabLst>
            </a:pPr>
            <a:endParaRPr lang="en-IN" sz="2400" dirty="0">
              <a:latin typeface="Calibri"/>
              <a:cs typeface="Calibri"/>
            </a:endParaRPr>
          </a:p>
          <a:p>
            <a:pPr marL="698500" lvl="1" indent="0">
              <a:lnSpc>
                <a:spcPct val="100000"/>
              </a:lnSpc>
              <a:spcBef>
                <a:spcPts val="935"/>
              </a:spcBef>
              <a:buSzPct val="83333"/>
              <a:buNone/>
              <a:tabLst>
                <a:tab pos="927100" algn="l"/>
              </a:tabLst>
            </a:pPr>
            <a:endParaRPr lang="en-IN" sz="2800" dirty="0"/>
          </a:p>
        </p:txBody>
      </p:sp>
      <p:pic>
        <p:nvPicPr>
          <p:cNvPr id="7" name="object 5">
            <a:extLst>
              <a:ext uri="{FF2B5EF4-FFF2-40B4-BE49-F238E27FC236}">
                <a16:creationId xmlns:a16="http://schemas.microsoft.com/office/drawing/2014/main" id="{DEBFCC4D-9E1D-D916-3882-7B55B9788198}"/>
              </a:ext>
            </a:extLst>
          </p:cNvPr>
          <p:cNvPicPr/>
          <p:nvPr/>
        </p:nvPicPr>
        <p:blipFill>
          <a:blip r:embed="rId2" cstate="print"/>
          <a:stretch>
            <a:fillRect/>
          </a:stretch>
        </p:blipFill>
        <p:spPr>
          <a:xfrm>
            <a:off x="1111885" y="2549793"/>
            <a:ext cx="5731509" cy="2720340"/>
          </a:xfrm>
          <a:prstGeom prst="rect">
            <a:avLst/>
          </a:prstGeom>
        </p:spPr>
      </p:pic>
      <p:sp>
        <p:nvSpPr>
          <p:cNvPr id="10" name="Title 1">
            <a:extLst>
              <a:ext uri="{FF2B5EF4-FFF2-40B4-BE49-F238E27FC236}">
                <a16:creationId xmlns:a16="http://schemas.microsoft.com/office/drawing/2014/main" id="{1630AA91-FEEC-1CFF-EEAA-6E89E8E3661D}"/>
              </a:ext>
            </a:extLst>
          </p:cNvPr>
          <p:cNvSpPr>
            <a:spLocks noGrp="1"/>
          </p:cNvSpPr>
          <p:nvPr>
            <p:ph type="title"/>
          </p:nvPr>
        </p:nvSpPr>
        <p:spPr>
          <a:xfrm>
            <a:off x="0" y="77293"/>
            <a:ext cx="7955280" cy="626532"/>
          </a:xfrm>
        </p:spPr>
        <p:txBody>
          <a:bodyPr>
            <a:normAutofit fontScale="90000"/>
          </a:bodyPr>
          <a:lstStyle/>
          <a:p>
            <a:pPr algn="l"/>
            <a:r>
              <a:rPr lang="en-IN" b="1" u="sng" spc="-35" dirty="0">
                <a:latin typeface="Calibri"/>
                <a:cs typeface="Calibri"/>
              </a:rPr>
              <a:t>Task-</a:t>
            </a:r>
            <a:r>
              <a:rPr lang="en-IN" b="1" u="sng" dirty="0">
                <a:latin typeface="Calibri"/>
                <a:cs typeface="Calibri"/>
              </a:rPr>
              <a:t>1:</a:t>
            </a:r>
            <a:r>
              <a:rPr lang="en-IN" b="1" u="sng" spc="-5" dirty="0">
                <a:latin typeface="Calibri"/>
                <a:cs typeface="Calibri"/>
              </a:rPr>
              <a:t> </a:t>
            </a:r>
            <a:r>
              <a:rPr lang="en-IN" b="1" u="sng" spc="-10" dirty="0">
                <a:latin typeface="Calibri"/>
                <a:cs typeface="Calibri"/>
              </a:rPr>
              <a:t>Setting</a:t>
            </a:r>
            <a:r>
              <a:rPr lang="en-IN" b="1" u="sng" spc="-5" dirty="0">
                <a:latin typeface="Calibri"/>
                <a:cs typeface="Calibri"/>
              </a:rPr>
              <a:t> </a:t>
            </a:r>
            <a:r>
              <a:rPr lang="en-IN" b="1" u="sng" dirty="0">
                <a:latin typeface="Calibri"/>
                <a:cs typeface="Calibri"/>
              </a:rPr>
              <a:t>up</a:t>
            </a:r>
            <a:r>
              <a:rPr lang="en-IN" b="1" u="sng" spc="-5" dirty="0">
                <a:latin typeface="Calibri"/>
                <a:cs typeface="Calibri"/>
              </a:rPr>
              <a:t> </a:t>
            </a:r>
            <a:r>
              <a:rPr lang="en-IN" b="1" u="sng" spc="-10" dirty="0">
                <a:latin typeface="Calibri"/>
                <a:cs typeface="Calibri"/>
              </a:rPr>
              <a:t>DynamoDB</a:t>
            </a:r>
            <a:endParaRPr lang="en-IN" u="sng" dirty="0"/>
          </a:p>
        </p:txBody>
      </p:sp>
    </p:spTree>
    <p:extLst>
      <p:ext uri="{BB962C8B-B14F-4D97-AF65-F5344CB8AC3E}">
        <p14:creationId xmlns:p14="http://schemas.microsoft.com/office/powerpoint/2010/main" val="500291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48C1E-4D8A-BE88-1295-3977A4716FAA}"/>
              </a:ext>
            </a:extLst>
          </p:cNvPr>
          <p:cNvSpPr>
            <a:spLocks noGrp="1"/>
          </p:cNvSpPr>
          <p:nvPr>
            <p:ph type="title"/>
          </p:nvPr>
        </p:nvSpPr>
        <p:spPr>
          <a:xfrm>
            <a:off x="0" y="493607"/>
            <a:ext cx="7955280" cy="702732"/>
          </a:xfrm>
        </p:spPr>
        <p:txBody>
          <a:bodyPr>
            <a:normAutofit fontScale="90000"/>
          </a:bodyPr>
          <a:lstStyle/>
          <a:p>
            <a:pPr algn="l"/>
            <a:r>
              <a:rPr lang="en-US" b="1" u="sng" spc="-35" dirty="0">
                <a:latin typeface="Calibri"/>
                <a:cs typeface="Calibri"/>
              </a:rPr>
              <a:t>Task-</a:t>
            </a:r>
            <a:r>
              <a:rPr lang="en-US" b="1" u="sng" dirty="0">
                <a:latin typeface="Calibri"/>
                <a:cs typeface="Calibri"/>
              </a:rPr>
              <a:t>2:</a:t>
            </a:r>
            <a:r>
              <a:rPr lang="en-US" b="1" u="sng" spc="-20" dirty="0">
                <a:latin typeface="Calibri"/>
                <a:cs typeface="Calibri"/>
              </a:rPr>
              <a:t> </a:t>
            </a:r>
            <a:r>
              <a:rPr lang="en-US" b="1" u="sng" spc="-10" dirty="0">
                <a:latin typeface="Calibri"/>
                <a:cs typeface="Calibri"/>
              </a:rPr>
              <a:t>Creating</a:t>
            </a:r>
            <a:r>
              <a:rPr lang="en-US" b="1" u="sng" spc="-20" dirty="0">
                <a:latin typeface="Calibri"/>
                <a:cs typeface="Calibri"/>
              </a:rPr>
              <a:t> </a:t>
            </a:r>
            <a:r>
              <a:rPr lang="en-US" b="1" u="sng" dirty="0">
                <a:latin typeface="Calibri"/>
                <a:cs typeface="Calibri"/>
              </a:rPr>
              <a:t>the</a:t>
            </a:r>
            <a:r>
              <a:rPr lang="en-US" b="1" u="sng" spc="-5" dirty="0">
                <a:latin typeface="Calibri"/>
                <a:cs typeface="Calibri"/>
              </a:rPr>
              <a:t> </a:t>
            </a:r>
            <a:r>
              <a:rPr lang="en-US" b="1" u="sng" dirty="0">
                <a:latin typeface="Calibri"/>
                <a:cs typeface="Calibri"/>
              </a:rPr>
              <a:t>Lambda</a:t>
            </a:r>
            <a:r>
              <a:rPr lang="en-US" b="1" u="sng" spc="-15" dirty="0">
                <a:latin typeface="Calibri"/>
                <a:cs typeface="Calibri"/>
              </a:rPr>
              <a:t> </a:t>
            </a:r>
            <a:r>
              <a:rPr lang="en-US" b="1" u="sng" dirty="0">
                <a:latin typeface="Calibri"/>
                <a:cs typeface="Calibri"/>
              </a:rPr>
              <a:t>Functions</a:t>
            </a:r>
            <a:r>
              <a:rPr lang="en-US" b="1" u="sng" spc="-25" dirty="0">
                <a:latin typeface="Calibri"/>
                <a:cs typeface="Calibri"/>
              </a:rPr>
              <a:t> </a:t>
            </a:r>
            <a:r>
              <a:rPr lang="en-US" b="1" u="sng" dirty="0">
                <a:latin typeface="Calibri"/>
                <a:cs typeface="Calibri"/>
              </a:rPr>
              <a:t>&amp;</a:t>
            </a:r>
            <a:r>
              <a:rPr lang="en-US" b="1" u="sng" spc="-25" dirty="0">
                <a:latin typeface="Calibri"/>
                <a:cs typeface="Calibri"/>
              </a:rPr>
              <a:t> </a:t>
            </a:r>
            <a:r>
              <a:rPr lang="en-US" b="1" u="sng" dirty="0">
                <a:latin typeface="Calibri"/>
                <a:cs typeface="Calibri"/>
              </a:rPr>
              <a:t>API</a:t>
            </a:r>
            <a:r>
              <a:rPr lang="en-US" b="1" u="sng" spc="-35" dirty="0">
                <a:latin typeface="Calibri"/>
                <a:cs typeface="Calibri"/>
              </a:rPr>
              <a:t> </a:t>
            </a:r>
            <a:r>
              <a:rPr lang="en-US" b="1" u="sng" spc="-10" dirty="0">
                <a:latin typeface="Calibri"/>
                <a:cs typeface="Calibri"/>
              </a:rPr>
              <a:t>Gateway</a:t>
            </a:r>
            <a:br>
              <a:rPr lang="en-US" dirty="0">
                <a:latin typeface="Calibri"/>
                <a:cs typeface="Calibri"/>
              </a:rPr>
            </a:br>
            <a:endParaRPr lang="en-IN" dirty="0"/>
          </a:p>
        </p:txBody>
      </p:sp>
      <p:sp>
        <p:nvSpPr>
          <p:cNvPr id="3" name="Content Placeholder 2">
            <a:extLst>
              <a:ext uri="{FF2B5EF4-FFF2-40B4-BE49-F238E27FC236}">
                <a16:creationId xmlns:a16="http://schemas.microsoft.com/office/drawing/2014/main" id="{AE3BAFD9-CC4E-DBBE-7336-BB39761ADEEA}"/>
              </a:ext>
            </a:extLst>
          </p:cNvPr>
          <p:cNvSpPr>
            <a:spLocks noGrp="1"/>
          </p:cNvSpPr>
          <p:nvPr>
            <p:ph idx="1"/>
          </p:nvPr>
        </p:nvSpPr>
        <p:spPr>
          <a:xfrm>
            <a:off x="0" y="1095204"/>
            <a:ext cx="7955280" cy="5418667"/>
          </a:xfrm>
        </p:spPr>
        <p:txBody>
          <a:bodyPr>
            <a:normAutofit fontScale="92500" lnSpcReduction="10000"/>
          </a:bodyPr>
          <a:lstStyle/>
          <a:p>
            <a:pPr marL="699135" lvl="1" indent="-229235" algn="just">
              <a:lnSpc>
                <a:spcPct val="110000"/>
              </a:lnSpc>
              <a:spcBef>
                <a:spcPts val="940"/>
              </a:spcBef>
              <a:buFont typeface="Calibri"/>
              <a:buAutoNum type="arabicPeriod"/>
              <a:tabLst>
                <a:tab pos="699135" algn="l"/>
              </a:tabLst>
            </a:pPr>
            <a:r>
              <a:rPr lang="en-US" sz="1600" b="1" spc="-10" dirty="0">
                <a:latin typeface="Calibri"/>
                <a:cs typeface="Calibri"/>
              </a:rPr>
              <a:t>Creating</a:t>
            </a:r>
            <a:r>
              <a:rPr lang="en-US" sz="1600" b="1" spc="-20" dirty="0">
                <a:latin typeface="Calibri"/>
                <a:cs typeface="Calibri"/>
              </a:rPr>
              <a:t> </a:t>
            </a:r>
            <a:r>
              <a:rPr lang="en-US" sz="1600" b="1" dirty="0">
                <a:latin typeface="Calibri"/>
                <a:cs typeface="Calibri"/>
              </a:rPr>
              <a:t>the</a:t>
            </a:r>
            <a:r>
              <a:rPr lang="en-US" sz="1600" b="1" spc="-30" dirty="0">
                <a:latin typeface="Calibri"/>
                <a:cs typeface="Calibri"/>
              </a:rPr>
              <a:t> </a:t>
            </a:r>
            <a:r>
              <a:rPr lang="en-US" sz="1600" b="1" dirty="0">
                <a:latin typeface="Calibri"/>
                <a:cs typeface="Calibri"/>
              </a:rPr>
              <a:t>POST</a:t>
            </a:r>
            <a:r>
              <a:rPr lang="en-US" sz="1600" b="1" spc="-20" dirty="0">
                <a:latin typeface="Calibri"/>
                <a:cs typeface="Calibri"/>
              </a:rPr>
              <a:t> </a:t>
            </a:r>
            <a:r>
              <a:rPr lang="en-US" sz="1600" b="1" dirty="0">
                <a:latin typeface="Calibri"/>
                <a:cs typeface="Calibri"/>
              </a:rPr>
              <a:t>Lambda</a:t>
            </a:r>
            <a:r>
              <a:rPr lang="en-US" sz="1600" b="1" spc="-20" dirty="0">
                <a:latin typeface="Calibri"/>
                <a:cs typeface="Calibri"/>
              </a:rPr>
              <a:t> </a:t>
            </a:r>
            <a:r>
              <a:rPr lang="en-US" sz="1600" b="1" spc="-10" dirty="0">
                <a:latin typeface="Calibri"/>
                <a:cs typeface="Calibri"/>
              </a:rPr>
              <a:t>Function</a:t>
            </a:r>
            <a:endParaRPr lang="en-US" sz="1600" dirty="0">
              <a:latin typeface="Calibri"/>
              <a:cs typeface="Calibri"/>
            </a:endParaRPr>
          </a:p>
          <a:p>
            <a:pPr marL="698500" marR="212090" lvl="1" algn="just">
              <a:lnSpc>
                <a:spcPct val="110000"/>
              </a:lnSpc>
              <a:spcBef>
                <a:spcPts val="840"/>
              </a:spcBef>
              <a:buAutoNum type="arabicPeriod"/>
              <a:tabLst>
                <a:tab pos="698500" algn="l"/>
              </a:tabLst>
            </a:pPr>
            <a:r>
              <a:rPr lang="en-US" sz="1600" spc="-10" dirty="0">
                <a:latin typeface="Calibri"/>
                <a:cs typeface="Calibri"/>
              </a:rPr>
              <a:t>Function</a:t>
            </a:r>
            <a:r>
              <a:rPr lang="en-US" sz="1600" spc="-40" dirty="0">
                <a:latin typeface="Calibri"/>
                <a:cs typeface="Calibri"/>
              </a:rPr>
              <a:t> </a:t>
            </a:r>
            <a:r>
              <a:rPr lang="en-US" sz="1600" dirty="0">
                <a:latin typeface="Calibri"/>
                <a:cs typeface="Calibri"/>
              </a:rPr>
              <a:t>accepts</a:t>
            </a:r>
            <a:r>
              <a:rPr lang="en-US" sz="1600" spc="-30" dirty="0">
                <a:latin typeface="Calibri"/>
                <a:cs typeface="Calibri"/>
              </a:rPr>
              <a:t> </a:t>
            </a:r>
            <a:r>
              <a:rPr lang="en-US" sz="1600" spc="-10" dirty="0">
                <a:latin typeface="Calibri"/>
                <a:cs typeface="Calibri"/>
              </a:rPr>
              <a:t>donation</a:t>
            </a:r>
            <a:r>
              <a:rPr lang="en-US" sz="1600" spc="-20" dirty="0">
                <a:latin typeface="Calibri"/>
                <a:cs typeface="Calibri"/>
              </a:rPr>
              <a:t> </a:t>
            </a:r>
            <a:r>
              <a:rPr lang="en-US" sz="1600" dirty="0">
                <a:latin typeface="Calibri"/>
                <a:cs typeface="Calibri"/>
              </a:rPr>
              <a:t>data</a:t>
            </a:r>
            <a:r>
              <a:rPr lang="en-US" sz="1600" spc="-35" dirty="0">
                <a:latin typeface="Calibri"/>
                <a:cs typeface="Calibri"/>
              </a:rPr>
              <a:t> </a:t>
            </a:r>
            <a:r>
              <a:rPr lang="en-US" sz="1600" dirty="0">
                <a:latin typeface="Calibri"/>
                <a:cs typeface="Calibri"/>
              </a:rPr>
              <a:t>from</a:t>
            </a:r>
            <a:r>
              <a:rPr lang="en-US" sz="1600" spc="-35" dirty="0">
                <a:latin typeface="Calibri"/>
                <a:cs typeface="Calibri"/>
              </a:rPr>
              <a:t> </a:t>
            </a:r>
            <a:r>
              <a:rPr lang="en-US" sz="1600" dirty="0">
                <a:latin typeface="Calibri"/>
                <a:cs typeface="Calibri"/>
              </a:rPr>
              <a:t>the</a:t>
            </a:r>
            <a:r>
              <a:rPr lang="en-US" sz="1600" spc="-30" dirty="0">
                <a:latin typeface="Calibri"/>
                <a:cs typeface="Calibri"/>
              </a:rPr>
              <a:t> </a:t>
            </a:r>
            <a:r>
              <a:rPr lang="en-US" sz="1600" dirty="0">
                <a:latin typeface="Calibri"/>
                <a:cs typeface="Calibri"/>
              </a:rPr>
              <a:t>frontend</a:t>
            </a:r>
            <a:r>
              <a:rPr lang="en-US" sz="1600" spc="-25" dirty="0">
                <a:latin typeface="Calibri"/>
                <a:cs typeface="Calibri"/>
              </a:rPr>
              <a:t> </a:t>
            </a:r>
            <a:r>
              <a:rPr lang="en-US" sz="1600" dirty="0">
                <a:latin typeface="Calibri"/>
                <a:cs typeface="Calibri"/>
              </a:rPr>
              <a:t>and</a:t>
            </a:r>
            <a:r>
              <a:rPr lang="en-US" sz="1600" spc="-40" dirty="0">
                <a:latin typeface="Calibri"/>
                <a:cs typeface="Calibri"/>
              </a:rPr>
              <a:t> </a:t>
            </a:r>
            <a:r>
              <a:rPr lang="en-US" sz="1600" dirty="0">
                <a:latin typeface="Calibri"/>
                <a:cs typeface="Calibri"/>
              </a:rPr>
              <a:t>stores</a:t>
            </a:r>
            <a:r>
              <a:rPr lang="en-US" sz="1600" spc="-5" dirty="0">
                <a:latin typeface="Calibri"/>
                <a:cs typeface="Calibri"/>
              </a:rPr>
              <a:t> </a:t>
            </a:r>
            <a:r>
              <a:rPr lang="en-US" sz="1600" dirty="0">
                <a:latin typeface="Calibri"/>
                <a:cs typeface="Calibri"/>
              </a:rPr>
              <a:t>it</a:t>
            </a:r>
            <a:r>
              <a:rPr lang="en-US" sz="1600" spc="-30" dirty="0">
                <a:latin typeface="Calibri"/>
                <a:cs typeface="Calibri"/>
              </a:rPr>
              <a:t> </a:t>
            </a:r>
            <a:r>
              <a:rPr lang="en-US" sz="1600" spc="-25" dirty="0">
                <a:latin typeface="Calibri"/>
                <a:cs typeface="Calibri"/>
              </a:rPr>
              <a:t>in </a:t>
            </a:r>
            <a:r>
              <a:rPr lang="en-US" sz="1600" spc="-10" dirty="0">
                <a:latin typeface="Calibri"/>
                <a:cs typeface="Calibri"/>
              </a:rPr>
              <a:t>DynamoDB.</a:t>
            </a:r>
            <a:endParaRPr lang="en-US" sz="1600" dirty="0">
              <a:latin typeface="Calibri"/>
              <a:cs typeface="Calibri"/>
            </a:endParaRPr>
          </a:p>
          <a:p>
            <a:pPr marL="699135" lvl="1" indent="-229235" algn="just">
              <a:lnSpc>
                <a:spcPct val="110000"/>
              </a:lnSpc>
              <a:spcBef>
                <a:spcPts val="960"/>
              </a:spcBef>
              <a:buFont typeface="Calibri"/>
              <a:buAutoNum type="arabicPeriod"/>
              <a:tabLst>
                <a:tab pos="699135" algn="l"/>
              </a:tabLst>
            </a:pPr>
            <a:r>
              <a:rPr lang="en-US" sz="1600" b="1" spc="-10" dirty="0">
                <a:latin typeface="Calibri"/>
                <a:cs typeface="Calibri"/>
              </a:rPr>
              <a:t>Creating</a:t>
            </a:r>
            <a:r>
              <a:rPr lang="en-US" sz="1600" b="1" spc="-20" dirty="0">
                <a:latin typeface="Calibri"/>
                <a:cs typeface="Calibri"/>
              </a:rPr>
              <a:t> </a:t>
            </a:r>
            <a:r>
              <a:rPr lang="en-US" sz="1600" b="1" dirty="0">
                <a:latin typeface="Calibri"/>
                <a:cs typeface="Calibri"/>
              </a:rPr>
              <a:t>the</a:t>
            </a:r>
            <a:r>
              <a:rPr lang="en-US" sz="1600" b="1" spc="-30" dirty="0">
                <a:latin typeface="Calibri"/>
                <a:cs typeface="Calibri"/>
              </a:rPr>
              <a:t> </a:t>
            </a:r>
            <a:r>
              <a:rPr lang="en-US" sz="1600" b="1" dirty="0">
                <a:latin typeface="Calibri"/>
                <a:cs typeface="Calibri"/>
              </a:rPr>
              <a:t>GET</a:t>
            </a:r>
            <a:r>
              <a:rPr lang="en-US" sz="1600" b="1" spc="-20" dirty="0">
                <a:latin typeface="Calibri"/>
                <a:cs typeface="Calibri"/>
              </a:rPr>
              <a:t> </a:t>
            </a:r>
            <a:r>
              <a:rPr lang="en-US" sz="1600" b="1" dirty="0">
                <a:latin typeface="Calibri"/>
                <a:cs typeface="Calibri"/>
              </a:rPr>
              <a:t>Lambda</a:t>
            </a:r>
            <a:r>
              <a:rPr lang="en-US" sz="1600" b="1" spc="-20" dirty="0">
                <a:latin typeface="Calibri"/>
                <a:cs typeface="Calibri"/>
              </a:rPr>
              <a:t> </a:t>
            </a:r>
            <a:r>
              <a:rPr lang="en-US" sz="1600" b="1" spc="-10" dirty="0">
                <a:latin typeface="Calibri"/>
                <a:cs typeface="Calibri"/>
              </a:rPr>
              <a:t>Function</a:t>
            </a:r>
            <a:endParaRPr lang="en-US" sz="1600" dirty="0">
              <a:latin typeface="Calibri"/>
              <a:cs typeface="Calibri"/>
            </a:endParaRPr>
          </a:p>
          <a:p>
            <a:pPr marL="699135" lvl="1" indent="-229235" algn="just">
              <a:lnSpc>
                <a:spcPct val="110000"/>
              </a:lnSpc>
              <a:spcBef>
                <a:spcPts val="935"/>
              </a:spcBef>
              <a:buAutoNum type="arabicPeriod"/>
              <a:tabLst>
                <a:tab pos="699135" algn="l"/>
              </a:tabLst>
            </a:pPr>
            <a:r>
              <a:rPr lang="en-US" sz="1600" spc="-10" dirty="0">
                <a:latin typeface="Calibri"/>
                <a:cs typeface="Calibri"/>
              </a:rPr>
              <a:t>Function</a:t>
            </a:r>
            <a:r>
              <a:rPr lang="en-US" sz="1600" spc="-30" dirty="0">
                <a:latin typeface="Calibri"/>
                <a:cs typeface="Calibri"/>
              </a:rPr>
              <a:t> </a:t>
            </a:r>
            <a:r>
              <a:rPr lang="en-US" sz="1600" spc="-10" dirty="0">
                <a:latin typeface="Calibri"/>
                <a:cs typeface="Calibri"/>
              </a:rPr>
              <a:t>fetches donation</a:t>
            </a:r>
            <a:r>
              <a:rPr lang="en-US" sz="1600" spc="-5" dirty="0">
                <a:latin typeface="Calibri"/>
                <a:cs typeface="Calibri"/>
              </a:rPr>
              <a:t> </a:t>
            </a:r>
            <a:r>
              <a:rPr lang="en-US" sz="1600" dirty="0">
                <a:latin typeface="Calibri"/>
                <a:cs typeface="Calibri"/>
              </a:rPr>
              <a:t>data</a:t>
            </a:r>
            <a:r>
              <a:rPr lang="en-US" sz="1600" spc="-25" dirty="0">
                <a:latin typeface="Calibri"/>
                <a:cs typeface="Calibri"/>
              </a:rPr>
              <a:t> </a:t>
            </a:r>
            <a:r>
              <a:rPr lang="en-US" sz="1600" dirty="0">
                <a:latin typeface="Calibri"/>
                <a:cs typeface="Calibri"/>
              </a:rPr>
              <a:t>and</a:t>
            </a:r>
            <a:r>
              <a:rPr lang="en-US" sz="1600" spc="-25" dirty="0">
                <a:latin typeface="Calibri"/>
                <a:cs typeface="Calibri"/>
              </a:rPr>
              <a:t> </a:t>
            </a:r>
            <a:r>
              <a:rPr lang="en-US" sz="1600" dirty="0">
                <a:latin typeface="Calibri"/>
                <a:cs typeface="Calibri"/>
              </a:rPr>
              <a:t>sends</a:t>
            </a:r>
            <a:r>
              <a:rPr lang="en-US" sz="1600" spc="15" dirty="0">
                <a:latin typeface="Calibri"/>
                <a:cs typeface="Calibri"/>
              </a:rPr>
              <a:t> </a:t>
            </a:r>
            <a:r>
              <a:rPr lang="en-US" sz="1600" dirty="0">
                <a:latin typeface="Calibri"/>
                <a:cs typeface="Calibri"/>
              </a:rPr>
              <a:t>it</a:t>
            </a:r>
            <a:r>
              <a:rPr lang="en-US" sz="1600" spc="-15" dirty="0">
                <a:latin typeface="Calibri"/>
                <a:cs typeface="Calibri"/>
              </a:rPr>
              <a:t> </a:t>
            </a:r>
            <a:r>
              <a:rPr lang="en-US" sz="1600" dirty="0">
                <a:latin typeface="Calibri"/>
                <a:cs typeface="Calibri"/>
              </a:rPr>
              <a:t>to</a:t>
            </a:r>
            <a:r>
              <a:rPr lang="en-US" sz="1600" spc="-35" dirty="0">
                <a:latin typeface="Calibri"/>
                <a:cs typeface="Calibri"/>
              </a:rPr>
              <a:t> </a:t>
            </a:r>
            <a:r>
              <a:rPr lang="en-US" sz="1600" dirty="0">
                <a:latin typeface="Calibri"/>
                <a:cs typeface="Calibri"/>
              </a:rPr>
              <a:t>the</a:t>
            </a:r>
            <a:r>
              <a:rPr lang="en-US" sz="1600" spc="5" dirty="0">
                <a:latin typeface="Calibri"/>
                <a:cs typeface="Calibri"/>
              </a:rPr>
              <a:t> </a:t>
            </a:r>
            <a:r>
              <a:rPr lang="en-US" sz="1600" spc="-10" dirty="0">
                <a:latin typeface="Calibri"/>
                <a:cs typeface="Calibri"/>
              </a:rPr>
              <a:t>frontend.</a:t>
            </a:r>
            <a:endParaRPr lang="en-US" sz="1600" dirty="0">
              <a:latin typeface="Calibri"/>
              <a:cs typeface="Calibri"/>
            </a:endParaRPr>
          </a:p>
          <a:p>
            <a:pPr marL="699135" lvl="1" indent="-229235" algn="just">
              <a:lnSpc>
                <a:spcPct val="110000"/>
              </a:lnSpc>
              <a:spcBef>
                <a:spcPts val="940"/>
              </a:spcBef>
              <a:buFont typeface="Calibri"/>
              <a:buAutoNum type="arabicPeriod"/>
              <a:tabLst>
                <a:tab pos="699135" algn="l"/>
              </a:tabLst>
            </a:pPr>
            <a:r>
              <a:rPr lang="en-US" sz="1600" b="1" spc="-10" dirty="0">
                <a:latin typeface="Calibri"/>
                <a:cs typeface="Calibri"/>
              </a:rPr>
              <a:t>Connecting </a:t>
            </a:r>
            <a:r>
              <a:rPr lang="en-US" sz="1600" b="1" dirty="0">
                <a:latin typeface="Calibri"/>
                <a:cs typeface="Calibri"/>
              </a:rPr>
              <a:t>via</a:t>
            </a:r>
            <a:r>
              <a:rPr lang="en-US" sz="1600" b="1" spc="-10" dirty="0">
                <a:latin typeface="Calibri"/>
                <a:cs typeface="Calibri"/>
              </a:rPr>
              <a:t> </a:t>
            </a:r>
            <a:r>
              <a:rPr lang="en-US" sz="1600" b="1" dirty="0">
                <a:latin typeface="Calibri"/>
                <a:cs typeface="Calibri"/>
              </a:rPr>
              <a:t>API</a:t>
            </a:r>
            <a:r>
              <a:rPr lang="en-US" sz="1600" b="1" spc="-20" dirty="0">
                <a:latin typeface="Calibri"/>
                <a:cs typeface="Calibri"/>
              </a:rPr>
              <a:t> </a:t>
            </a:r>
            <a:r>
              <a:rPr lang="en-US" sz="1600" b="1" spc="-10" dirty="0">
                <a:latin typeface="Calibri"/>
                <a:cs typeface="Calibri"/>
              </a:rPr>
              <a:t>Gateway</a:t>
            </a:r>
            <a:endParaRPr lang="en-US" sz="1600" dirty="0">
              <a:latin typeface="Calibri"/>
              <a:cs typeface="Calibri"/>
            </a:endParaRPr>
          </a:p>
          <a:p>
            <a:pPr marL="699135" lvl="1" indent="-229235" algn="just">
              <a:lnSpc>
                <a:spcPct val="110000"/>
              </a:lnSpc>
              <a:spcBef>
                <a:spcPts val="935"/>
              </a:spcBef>
              <a:buAutoNum type="arabicPeriod"/>
              <a:tabLst>
                <a:tab pos="699135" algn="l"/>
              </a:tabLst>
            </a:pPr>
            <a:r>
              <a:rPr lang="en-US" sz="1600" spc="-10" dirty="0">
                <a:latin typeface="Calibri"/>
                <a:cs typeface="Calibri"/>
              </a:rPr>
              <a:t>Created</a:t>
            </a:r>
            <a:r>
              <a:rPr lang="en-US" sz="1600" spc="-30" dirty="0">
                <a:latin typeface="Calibri"/>
                <a:cs typeface="Calibri"/>
              </a:rPr>
              <a:t> </a:t>
            </a:r>
            <a:r>
              <a:rPr lang="en-US" sz="1600" spc="-10" dirty="0">
                <a:latin typeface="Calibri"/>
                <a:cs typeface="Calibri"/>
              </a:rPr>
              <a:t>/donations </a:t>
            </a:r>
            <a:r>
              <a:rPr lang="en-US" sz="1600" dirty="0">
                <a:latin typeface="Calibri"/>
                <a:cs typeface="Calibri"/>
              </a:rPr>
              <a:t>POST</a:t>
            </a:r>
            <a:r>
              <a:rPr lang="en-US" sz="1600" spc="-30" dirty="0">
                <a:latin typeface="Calibri"/>
                <a:cs typeface="Calibri"/>
              </a:rPr>
              <a:t> </a:t>
            </a:r>
            <a:r>
              <a:rPr lang="en-US" sz="1600" dirty="0">
                <a:latin typeface="Calibri"/>
                <a:cs typeface="Calibri"/>
              </a:rPr>
              <a:t>endpoint</a:t>
            </a:r>
            <a:r>
              <a:rPr lang="en-US" sz="1600" spc="-15" dirty="0">
                <a:latin typeface="Calibri"/>
                <a:cs typeface="Calibri"/>
              </a:rPr>
              <a:t> </a:t>
            </a:r>
            <a:r>
              <a:rPr lang="en-US" sz="1600" dirty="0">
                <a:latin typeface="Calibri"/>
                <a:cs typeface="Calibri"/>
              </a:rPr>
              <a:t>and</a:t>
            </a:r>
            <a:r>
              <a:rPr lang="en-US" sz="1600" spc="-25" dirty="0">
                <a:latin typeface="Calibri"/>
                <a:cs typeface="Calibri"/>
              </a:rPr>
              <a:t> </a:t>
            </a:r>
            <a:r>
              <a:rPr lang="en-US" sz="1600" spc="-10" dirty="0">
                <a:latin typeface="Calibri"/>
                <a:cs typeface="Calibri"/>
              </a:rPr>
              <a:t>/getDonations</a:t>
            </a:r>
            <a:r>
              <a:rPr lang="en-US" sz="1600" spc="-15" dirty="0">
                <a:latin typeface="Calibri"/>
                <a:cs typeface="Calibri"/>
              </a:rPr>
              <a:t> </a:t>
            </a:r>
            <a:r>
              <a:rPr lang="en-US" sz="1600" dirty="0">
                <a:latin typeface="Calibri"/>
                <a:cs typeface="Calibri"/>
              </a:rPr>
              <a:t>GET</a:t>
            </a:r>
            <a:r>
              <a:rPr lang="en-US" sz="1600" spc="-30" dirty="0">
                <a:latin typeface="Calibri"/>
                <a:cs typeface="Calibri"/>
              </a:rPr>
              <a:t> </a:t>
            </a:r>
            <a:r>
              <a:rPr lang="en-US" sz="1600" spc="-10" dirty="0">
                <a:latin typeface="Calibri"/>
                <a:cs typeface="Calibri"/>
              </a:rPr>
              <a:t>endpoint.</a:t>
            </a:r>
            <a:endParaRPr lang="en-US" sz="1600" dirty="0">
              <a:latin typeface="Calibri"/>
              <a:cs typeface="Calibri"/>
            </a:endParaRPr>
          </a:p>
          <a:p>
            <a:pPr marL="699135" lvl="1" indent="-229235" algn="just">
              <a:lnSpc>
                <a:spcPct val="110000"/>
              </a:lnSpc>
              <a:spcBef>
                <a:spcPts val="935"/>
              </a:spcBef>
              <a:buAutoNum type="arabicPeriod"/>
              <a:tabLst>
                <a:tab pos="699135" algn="l"/>
              </a:tabLst>
            </a:pPr>
            <a:r>
              <a:rPr lang="en-US" sz="1600" dirty="0">
                <a:latin typeface="Calibri"/>
                <a:cs typeface="Calibri"/>
              </a:rPr>
              <a:t>Enabled</a:t>
            </a:r>
            <a:r>
              <a:rPr lang="en-US" sz="1600" spc="-30" dirty="0">
                <a:latin typeface="Calibri"/>
                <a:cs typeface="Calibri"/>
              </a:rPr>
              <a:t> </a:t>
            </a:r>
            <a:r>
              <a:rPr lang="en-US" sz="1600" b="1" dirty="0">
                <a:latin typeface="Calibri"/>
                <a:cs typeface="Calibri"/>
              </a:rPr>
              <a:t>CORS</a:t>
            </a:r>
            <a:r>
              <a:rPr lang="en-US" sz="1600" b="1" spc="-40" dirty="0">
                <a:latin typeface="Calibri"/>
                <a:cs typeface="Calibri"/>
              </a:rPr>
              <a:t> </a:t>
            </a:r>
            <a:r>
              <a:rPr lang="en-US" sz="1600" dirty="0">
                <a:latin typeface="Calibri"/>
                <a:cs typeface="Calibri"/>
              </a:rPr>
              <a:t>for</a:t>
            </a:r>
            <a:r>
              <a:rPr lang="en-US" sz="1600" spc="-35" dirty="0">
                <a:latin typeface="Calibri"/>
                <a:cs typeface="Calibri"/>
              </a:rPr>
              <a:t> </a:t>
            </a:r>
            <a:r>
              <a:rPr lang="en-US" sz="1600" dirty="0">
                <a:latin typeface="Calibri"/>
                <a:cs typeface="Calibri"/>
              </a:rPr>
              <a:t>both</a:t>
            </a:r>
            <a:r>
              <a:rPr lang="en-US" sz="1600" spc="-40" dirty="0">
                <a:latin typeface="Calibri"/>
                <a:cs typeface="Calibri"/>
              </a:rPr>
              <a:t> </a:t>
            </a:r>
            <a:r>
              <a:rPr lang="en-US" sz="1600" spc="-10" dirty="0">
                <a:latin typeface="Calibri"/>
                <a:cs typeface="Calibri"/>
              </a:rPr>
              <a:t>endpoints.</a:t>
            </a:r>
            <a:endParaRPr lang="en-US" sz="1600" dirty="0">
              <a:latin typeface="Calibri"/>
              <a:cs typeface="Calibri"/>
            </a:endParaRPr>
          </a:p>
          <a:p>
            <a:endParaRPr lang="en-IN" dirty="0"/>
          </a:p>
          <a:p>
            <a:endParaRPr lang="en-IN" dirty="0"/>
          </a:p>
          <a:p>
            <a:endParaRPr lang="en-IN" dirty="0"/>
          </a:p>
          <a:p>
            <a:endParaRPr lang="en-IN" dirty="0"/>
          </a:p>
          <a:p>
            <a:endParaRPr lang="en-IN" dirty="0"/>
          </a:p>
          <a:p>
            <a:pPr marL="0" indent="0">
              <a:buNone/>
            </a:pPr>
            <a:r>
              <a:rPr lang="en-IN" dirty="0"/>
              <a:t> </a:t>
            </a:r>
          </a:p>
          <a:p>
            <a:pPr marL="0" indent="0">
              <a:buNone/>
            </a:pPr>
            <a:r>
              <a:rPr lang="fr-FR" sz="2400" b="1" dirty="0">
                <a:latin typeface="Calibri"/>
                <a:cs typeface="Calibri"/>
              </a:rPr>
              <a:t>    </a:t>
            </a:r>
          </a:p>
          <a:p>
            <a:pPr marL="0" indent="0">
              <a:buNone/>
            </a:pPr>
            <a:r>
              <a:rPr lang="fr-FR" sz="2400" b="1" dirty="0">
                <a:latin typeface="Calibri"/>
                <a:cs typeface="Calibri"/>
              </a:rPr>
              <a:t>                       Fig</a:t>
            </a:r>
            <a:r>
              <a:rPr lang="fr-FR" sz="2400" b="1" spc="-15" dirty="0">
                <a:latin typeface="Calibri"/>
                <a:cs typeface="Calibri"/>
              </a:rPr>
              <a:t> </a:t>
            </a:r>
            <a:r>
              <a:rPr lang="fr-FR" sz="2400" b="1" dirty="0">
                <a:latin typeface="Calibri"/>
                <a:cs typeface="Calibri"/>
              </a:rPr>
              <a:t>B:</a:t>
            </a:r>
            <a:r>
              <a:rPr lang="fr-FR" sz="2400" b="1" spc="-15" dirty="0">
                <a:latin typeface="Calibri"/>
                <a:cs typeface="Calibri"/>
              </a:rPr>
              <a:t> </a:t>
            </a:r>
            <a:r>
              <a:rPr lang="fr-FR" sz="2400" b="1" dirty="0">
                <a:latin typeface="Calibri"/>
                <a:cs typeface="Calibri"/>
              </a:rPr>
              <a:t>POST</a:t>
            </a:r>
            <a:r>
              <a:rPr lang="fr-FR" sz="2400" b="1" spc="-15" dirty="0">
                <a:latin typeface="Calibri"/>
                <a:cs typeface="Calibri"/>
              </a:rPr>
              <a:t> </a:t>
            </a:r>
            <a:r>
              <a:rPr lang="fr-FR" sz="2400" b="1" dirty="0">
                <a:latin typeface="Calibri"/>
                <a:cs typeface="Calibri"/>
              </a:rPr>
              <a:t>CODE</a:t>
            </a:r>
            <a:r>
              <a:rPr lang="fr-FR" sz="2400" b="1" spc="-5" dirty="0">
                <a:latin typeface="Calibri"/>
                <a:cs typeface="Calibri"/>
              </a:rPr>
              <a:t> </a:t>
            </a:r>
            <a:r>
              <a:rPr lang="fr-FR" sz="2400" b="1" spc="-10" dirty="0">
                <a:latin typeface="Calibri"/>
                <a:cs typeface="Calibri"/>
              </a:rPr>
              <a:t>LAMBDA</a:t>
            </a:r>
            <a:r>
              <a:rPr lang="fr-FR" sz="2400" b="1" spc="-20" dirty="0">
                <a:latin typeface="Calibri"/>
                <a:cs typeface="Calibri"/>
              </a:rPr>
              <a:t> </a:t>
            </a:r>
            <a:r>
              <a:rPr lang="fr-FR" sz="2400" b="1" spc="-10" dirty="0">
                <a:latin typeface="Calibri"/>
                <a:cs typeface="Calibri"/>
              </a:rPr>
              <a:t>FUNCTION</a:t>
            </a:r>
            <a:endParaRPr lang="fr-FR" sz="2400" dirty="0">
              <a:latin typeface="Calibri"/>
              <a:cs typeface="Calibri"/>
            </a:endParaRPr>
          </a:p>
          <a:p>
            <a:pPr marL="0" indent="0">
              <a:buNone/>
            </a:pPr>
            <a:endParaRPr lang="en-IN" dirty="0"/>
          </a:p>
          <a:p>
            <a:pPr marL="0" indent="0">
              <a:buNone/>
            </a:pPr>
            <a:endParaRPr lang="en-IN" dirty="0"/>
          </a:p>
        </p:txBody>
      </p:sp>
      <p:pic>
        <p:nvPicPr>
          <p:cNvPr id="4" name="object 6">
            <a:extLst>
              <a:ext uri="{FF2B5EF4-FFF2-40B4-BE49-F238E27FC236}">
                <a16:creationId xmlns:a16="http://schemas.microsoft.com/office/drawing/2014/main" id="{7DBC5684-2E72-AAF2-5EBF-F51171074998}"/>
              </a:ext>
            </a:extLst>
          </p:cNvPr>
          <p:cNvPicPr/>
          <p:nvPr/>
        </p:nvPicPr>
        <p:blipFill>
          <a:blip r:embed="rId2" cstate="print"/>
          <a:stretch>
            <a:fillRect/>
          </a:stretch>
        </p:blipFill>
        <p:spPr>
          <a:xfrm>
            <a:off x="1188720" y="3613636"/>
            <a:ext cx="5731509" cy="2305875"/>
          </a:xfrm>
          <a:prstGeom prst="rect">
            <a:avLst/>
          </a:prstGeom>
        </p:spPr>
      </p:pic>
    </p:spTree>
    <p:extLst>
      <p:ext uri="{BB962C8B-B14F-4D97-AF65-F5344CB8AC3E}">
        <p14:creationId xmlns:p14="http://schemas.microsoft.com/office/powerpoint/2010/main" val="34205468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ject 4">
            <a:extLst>
              <a:ext uri="{FF2B5EF4-FFF2-40B4-BE49-F238E27FC236}">
                <a16:creationId xmlns:a16="http://schemas.microsoft.com/office/drawing/2014/main" id="{642378FC-6DC9-D5E5-6E97-BF5159370989}"/>
              </a:ext>
            </a:extLst>
          </p:cNvPr>
          <p:cNvPicPr>
            <a:picLocks noGrp="1"/>
          </p:cNvPicPr>
          <p:nvPr>
            <p:ph idx="1"/>
          </p:nvPr>
        </p:nvPicPr>
        <p:blipFill>
          <a:blip r:embed="rId2" cstate="print"/>
          <a:stretch>
            <a:fillRect/>
          </a:stretch>
        </p:blipFill>
        <p:spPr>
          <a:xfrm>
            <a:off x="2112024" y="604526"/>
            <a:ext cx="5401733" cy="2612807"/>
          </a:xfrm>
          <a:prstGeom prst="rect">
            <a:avLst/>
          </a:prstGeom>
        </p:spPr>
      </p:pic>
      <p:sp>
        <p:nvSpPr>
          <p:cNvPr id="6" name="TextBox 5">
            <a:extLst>
              <a:ext uri="{FF2B5EF4-FFF2-40B4-BE49-F238E27FC236}">
                <a16:creationId xmlns:a16="http://schemas.microsoft.com/office/drawing/2014/main" id="{127E1641-A423-CB5D-021D-F9942BACF62D}"/>
              </a:ext>
            </a:extLst>
          </p:cNvPr>
          <p:cNvSpPr txBox="1"/>
          <p:nvPr/>
        </p:nvSpPr>
        <p:spPr>
          <a:xfrm>
            <a:off x="2998861" y="3321672"/>
            <a:ext cx="3927474" cy="646331"/>
          </a:xfrm>
          <a:prstGeom prst="rect">
            <a:avLst/>
          </a:prstGeom>
          <a:noFill/>
        </p:spPr>
        <p:txBody>
          <a:bodyPr wrap="square" rtlCol="0">
            <a:spAutoFit/>
          </a:bodyPr>
          <a:lstStyle/>
          <a:p>
            <a:r>
              <a:rPr lang="en-US" b="1" dirty="0">
                <a:latin typeface="Calibri"/>
                <a:cs typeface="Calibri"/>
              </a:rPr>
              <a:t>Fig</a:t>
            </a:r>
            <a:r>
              <a:rPr lang="en-US" b="1" spc="-20" dirty="0">
                <a:latin typeface="Calibri"/>
                <a:cs typeface="Calibri"/>
              </a:rPr>
              <a:t> </a:t>
            </a:r>
            <a:r>
              <a:rPr lang="en-US" b="1" dirty="0">
                <a:latin typeface="Calibri"/>
                <a:cs typeface="Calibri"/>
              </a:rPr>
              <a:t>C:GET</a:t>
            </a:r>
            <a:r>
              <a:rPr lang="en-US" b="1" spc="-20" dirty="0">
                <a:latin typeface="Calibri"/>
                <a:cs typeface="Calibri"/>
              </a:rPr>
              <a:t> </a:t>
            </a:r>
            <a:r>
              <a:rPr lang="en-US" b="1" dirty="0">
                <a:latin typeface="Calibri"/>
                <a:cs typeface="Calibri"/>
              </a:rPr>
              <a:t>CODE</a:t>
            </a:r>
            <a:r>
              <a:rPr lang="en-US" b="1" spc="-35" dirty="0">
                <a:latin typeface="Calibri"/>
                <a:cs typeface="Calibri"/>
              </a:rPr>
              <a:t> </a:t>
            </a:r>
            <a:r>
              <a:rPr lang="en-US" b="1" dirty="0">
                <a:latin typeface="Calibri"/>
                <a:cs typeface="Calibri"/>
              </a:rPr>
              <a:t>LAMBDA</a:t>
            </a:r>
            <a:r>
              <a:rPr lang="en-US" b="1" spc="-25" dirty="0">
                <a:latin typeface="Calibri"/>
                <a:cs typeface="Calibri"/>
              </a:rPr>
              <a:t> </a:t>
            </a:r>
            <a:r>
              <a:rPr lang="en-US" b="1" spc="-10" dirty="0">
                <a:latin typeface="Calibri"/>
                <a:cs typeface="Calibri"/>
              </a:rPr>
              <a:t>FUNCTION</a:t>
            </a:r>
            <a:endParaRPr lang="en-US" dirty="0">
              <a:latin typeface="Calibri"/>
              <a:cs typeface="Calibri"/>
            </a:endParaRPr>
          </a:p>
          <a:p>
            <a:endParaRPr lang="en-IN" dirty="0"/>
          </a:p>
        </p:txBody>
      </p:sp>
      <p:pic>
        <p:nvPicPr>
          <p:cNvPr id="7" name="object 5">
            <a:extLst>
              <a:ext uri="{FF2B5EF4-FFF2-40B4-BE49-F238E27FC236}">
                <a16:creationId xmlns:a16="http://schemas.microsoft.com/office/drawing/2014/main" id="{B65E2D84-1039-9CA4-6DD8-A1EBB3E3C77C}"/>
              </a:ext>
            </a:extLst>
          </p:cNvPr>
          <p:cNvPicPr/>
          <p:nvPr/>
        </p:nvPicPr>
        <p:blipFill>
          <a:blip r:embed="rId3" cstate="print"/>
          <a:stretch>
            <a:fillRect/>
          </a:stretch>
        </p:blipFill>
        <p:spPr>
          <a:xfrm>
            <a:off x="1947137" y="3977373"/>
            <a:ext cx="5731509" cy="1896005"/>
          </a:xfrm>
          <a:prstGeom prst="rect">
            <a:avLst/>
          </a:prstGeom>
        </p:spPr>
      </p:pic>
      <p:sp>
        <p:nvSpPr>
          <p:cNvPr id="8" name="TextBox 7">
            <a:extLst>
              <a:ext uri="{FF2B5EF4-FFF2-40B4-BE49-F238E27FC236}">
                <a16:creationId xmlns:a16="http://schemas.microsoft.com/office/drawing/2014/main" id="{39517E26-9503-D871-01BA-3B341DE868B1}"/>
              </a:ext>
            </a:extLst>
          </p:cNvPr>
          <p:cNvSpPr txBox="1"/>
          <p:nvPr/>
        </p:nvSpPr>
        <p:spPr>
          <a:xfrm>
            <a:off x="3623733" y="6098673"/>
            <a:ext cx="2065867" cy="369332"/>
          </a:xfrm>
          <a:prstGeom prst="rect">
            <a:avLst/>
          </a:prstGeom>
          <a:noFill/>
        </p:spPr>
        <p:txBody>
          <a:bodyPr wrap="square" rtlCol="0">
            <a:spAutoFit/>
          </a:bodyPr>
          <a:lstStyle/>
          <a:p>
            <a:pPr marL="12700">
              <a:lnSpc>
                <a:spcPct val="100000"/>
              </a:lnSpc>
              <a:spcBef>
                <a:spcPts val="105"/>
              </a:spcBef>
            </a:pPr>
            <a:r>
              <a:rPr lang="en-IN" b="1" dirty="0">
                <a:latin typeface="Calibri"/>
                <a:cs typeface="Calibri"/>
              </a:rPr>
              <a:t>Fig</a:t>
            </a:r>
            <a:r>
              <a:rPr lang="en-IN" b="1" spc="20" dirty="0">
                <a:latin typeface="Calibri"/>
                <a:cs typeface="Calibri"/>
              </a:rPr>
              <a:t> </a:t>
            </a:r>
            <a:r>
              <a:rPr lang="en-IN" b="1" dirty="0">
                <a:latin typeface="Calibri"/>
                <a:cs typeface="Calibri"/>
              </a:rPr>
              <a:t>D:</a:t>
            </a:r>
            <a:r>
              <a:rPr lang="en-IN" b="1" spc="20" dirty="0">
                <a:latin typeface="Calibri"/>
                <a:cs typeface="Calibri"/>
              </a:rPr>
              <a:t> </a:t>
            </a:r>
            <a:r>
              <a:rPr lang="en-IN" b="1" spc="-25" dirty="0">
                <a:latin typeface="Calibri"/>
                <a:cs typeface="Calibri"/>
              </a:rPr>
              <a:t>APIGATE-WAY</a:t>
            </a:r>
            <a:endParaRPr lang="en-IN" dirty="0">
              <a:latin typeface="Calibri"/>
              <a:cs typeface="Calibri"/>
            </a:endParaRPr>
          </a:p>
        </p:txBody>
      </p:sp>
    </p:spTree>
    <p:extLst>
      <p:ext uri="{BB962C8B-B14F-4D97-AF65-F5344CB8AC3E}">
        <p14:creationId xmlns:p14="http://schemas.microsoft.com/office/powerpoint/2010/main" val="3456604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6">
            <a:extLst>
              <a:ext uri="{FF2B5EF4-FFF2-40B4-BE49-F238E27FC236}">
                <a16:creationId xmlns:a16="http://schemas.microsoft.com/office/drawing/2014/main" id="{312BE480-13EE-36B2-C033-9CBA0C698E80}"/>
              </a:ext>
            </a:extLst>
          </p:cNvPr>
          <p:cNvPicPr>
            <a:picLocks noGrp="1"/>
          </p:cNvPicPr>
          <p:nvPr>
            <p:ph idx="1"/>
          </p:nvPr>
        </p:nvPicPr>
        <p:blipFill>
          <a:blip r:embed="rId2" cstate="print"/>
          <a:stretch>
            <a:fillRect/>
          </a:stretch>
        </p:blipFill>
        <p:spPr>
          <a:xfrm>
            <a:off x="1786467" y="485520"/>
            <a:ext cx="5959474" cy="2599267"/>
          </a:xfrm>
          <a:prstGeom prst="rect">
            <a:avLst/>
          </a:prstGeom>
        </p:spPr>
      </p:pic>
      <p:pic>
        <p:nvPicPr>
          <p:cNvPr id="5" name="object 4">
            <a:extLst>
              <a:ext uri="{FF2B5EF4-FFF2-40B4-BE49-F238E27FC236}">
                <a16:creationId xmlns:a16="http://schemas.microsoft.com/office/drawing/2014/main" id="{92CA5336-F1B0-0077-0F51-ED4FC64C0C53}"/>
              </a:ext>
            </a:extLst>
          </p:cNvPr>
          <p:cNvPicPr/>
          <p:nvPr/>
        </p:nvPicPr>
        <p:blipFill>
          <a:blip r:embed="rId3" cstate="print"/>
          <a:stretch>
            <a:fillRect/>
          </a:stretch>
        </p:blipFill>
        <p:spPr>
          <a:xfrm>
            <a:off x="1786467" y="3287987"/>
            <a:ext cx="5959474" cy="2365121"/>
          </a:xfrm>
          <a:prstGeom prst="rect">
            <a:avLst/>
          </a:prstGeom>
        </p:spPr>
      </p:pic>
      <p:sp>
        <p:nvSpPr>
          <p:cNvPr id="6" name="TextBox 5">
            <a:extLst>
              <a:ext uri="{FF2B5EF4-FFF2-40B4-BE49-F238E27FC236}">
                <a16:creationId xmlns:a16="http://schemas.microsoft.com/office/drawing/2014/main" id="{05C2955E-4A5A-7A2D-E6A1-AE28B7B02A7C}"/>
              </a:ext>
            </a:extLst>
          </p:cNvPr>
          <p:cNvSpPr txBox="1"/>
          <p:nvPr/>
        </p:nvSpPr>
        <p:spPr>
          <a:xfrm>
            <a:off x="3124200" y="6049314"/>
            <a:ext cx="3335867" cy="646331"/>
          </a:xfrm>
          <a:prstGeom prst="rect">
            <a:avLst/>
          </a:prstGeom>
          <a:noFill/>
        </p:spPr>
        <p:txBody>
          <a:bodyPr wrap="square" rtlCol="0">
            <a:spAutoFit/>
          </a:bodyPr>
          <a:lstStyle/>
          <a:p>
            <a:r>
              <a:rPr lang="en-US" b="1" dirty="0">
                <a:latin typeface="Calibri"/>
                <a:cs typeface="Calibri"/>
              </a:rPr>
              <a:t>Fig</a:t>
            </a:r>
            <a:r>
              <a:rPr lang="en-US" b="1" spc="-25" dirty="0">
                <a:latin typeface="Calibri"/>
                <a:cs typeface="Calibri"/>
              </a:rPr>
              <a:t> </a:t>
            </a:r>
            <a:r>
              <a:rPr lang="en-US" b="1" dirty="0">
                <a:latin typeface="Calibri"/>
                <a:cs typeface="Calibri"/>
              </a:rPr>
              <a:t>E:OUTPUT</a:t>
            </a:r>
            <a:r>
              <a:rPr lang="en-US" b="1" spc="-30" dirty="0">
                <a:latin typeface="Calibri"/>
                <a:cs typeface="Calibri"/>
              </a:rPr>
              <a:t> </a:t>
            </a:r>
            <a:r>
              <a:rPr lang="en-US" b="1" dirty="0">
                <a:latin typeface="Calibri"/>
                <a:cs typeface="Calibri"/>
              </a:rPr>
              <a:t>FOR</a:t>
            </a:r>
            <a:r>
              <a:rPr lang="en-US" b="1" spc="-30" dirty="0">
                <a:latin typeface="Calibri"/>
                <a:cs typeface="Calibri"/>
              </a:rPr>
              <a:t> </a:t>
            </a:r>
            <a:r>
              <a:rPr lang="en-US" b="1" dirty="0">
                <a:latin typeface="Calibri"/>
                <a:cs typeface="Calibri"/>
              </a:rPr>
              <a:t>POST</a:t>
            </a:r>
            <a:r>
              <a:rPr lang="en-US" b="1" spc="-25" dirty="0">
                <a:latin typeface="Calibri"/>
                <a:cs typeface="Calibri"/>
              </a:rPr>
              <a:t> </a:t>
            </a:r>
            <a:r>
              <a:rPr lang="en-US" b="1" spc="-20" dirty="0">
                <a:latin typeface="Calibri"/>
                <a:cs typeface="Calibri"/>
              </a:rPr>
              <a:t>CODE</a:t>
            </a:r>
            <a:endParaRPr lang="en-US" dirty="0">
              <a:latin typeface="Calibri"/>
              <a:cs typeface="Calibri"/>
            </a:endParaRPr>
          </a:p>
          <a:p>
            <a:endParaRPr lang="en-IN" dirty="0"/>
          </a:p>
        </p:txBody>
      </p:sp>
    </p:spTree>
    <p:extLst>
      <p:ext uri="{BB962C8B-B14F-4D97-AF65-F5344CB8AC3E}">
        <p14:creationId xmlns:p14="http://schemas.microsoft.com/office/powerpoint/2010/main" val="16521427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003B7-E285-CC37-E519-5C90BDCC620F}"/>
              </a:ext>
            </a:extLst>
          </p:cNvPr>
          <p:cNvSpPr>
            <a:spLocks noGrp="1"/>
          </p:cNvSpPr>
          <p:nvPr>
            <p:ph type="title"/>
          </p:nvPr>
        </p:nvSpPr>
        <p:spPr>
          <a:xfrm>
            <a:off x="0" y="697977"/>
            <a:ext cx="8244840" cy="321734"/>
          </a:xfrm>
        </p:spPr>
        <p:txBody>
          <a:bodyPr>
            <a:normAutofit fontScale="90000"/>
          </a:bodyPr>
          <a:lstStyle/>
          <a:p>
            <a:pPr algn="l"/>
            <a:r>
              <a:rPr lang="en-US" b="1" u="sng" spc="-35" dirty="0">
                <a:latin typeface="Calibri"/>
                <a:cs typeface="Calibri"/>
              </a:rPr>
              <a:t>Task-</a:t>
            </a:r>
            <a:r>
              <a:rPr lang="en-US" b="1" u="sng" dirty="0">
                <a:latin typeface="Calibri"/>
                <a:cs typeface="Calibri"/>
              </a:rPr>
              <a:t>3:</a:t>
            </a:r>
            <a:r>
              <a:rPr lang="en-US" b="1" u="sng" spc="-25" dirty="0">
                <a:latin typeface="Calibri"/>
                <a:cs typeface="Calibri"/>
              </a:rPr>
              <a:t> </a:t>
            </a:r>
            <a:r>
              <a:rPr lang="en-US" b="1" u="sng" spc="-10" dirty="0">
                <a:latin typeface="Calibri"/>
                <a:cs typeface="Calibri"/>
              </a:rPr>
              <a:t>Hosting</a:t>
            </a:r>
            <a:r>
              <a:rPr lang="en-US" b="1" u="sng" spc="-20" dirty="0">
                <a:latin typeface="Calibri"/>
                <a:cs typeface="Calibri"/>
              </a:rPr>
              <a:t> </a:t>
            </a:r>
            <a:r>
              <a:rPr lang="en-US" b="1" u="sng" dirty="0">
                <a:latin typeface="Calibri"/>
                <a:cs typeface="Calibri"/>
              </a:rPr>
              <a:t>the</a:t>
            </a:r>
            <a:r>
              <a:rPr lang="en-US" b="1" u="sng" spc="-5" dirty="0">
                <a:latin typeface="Calibri"/>
                <a:cs typeface="Calibri"/>
              </a:rPr>
              <a:t> </a:t>
            </a:r>
            <a:r>
              <a:rPr lang="en-US" b="1" u="sng" spc="-10" dirty="0">
                <a:latin typeface="Calibri"/>
                <a:cs typeface="Calibri"/>
              </a:rPr>
              <a:t>Website </a:t>
            </a:r>
            <a:r>
              <a:rPr lang="en-US" b="1" u="sng" dirty="0" err="1">
                <a:latin typeface="Calibri"/>
                <a:cs typeface="Calibri"/>
              </a:rPr>
              <a:t>oN</a:t>
            </a:r>
            <a:r>
              <a:rPr lang="en-US" b="1" u="sng" dirty="0">
                <a:latin typeface="Calibri"/>
                <a:cs typeface="Calibri"/>
              </a:rPr>
              <a:t> Amazon</a:t>
            </a:r>
            <a:r>
              <a:rPr lang="en-US" b="1" u="sng" spc="-20" dirty="0">
                <a:latin typeface="Calibri"/>
                <a:cs typeface="Calibri"/>
              </a:rPr>
              <a:t> </a:t>
            </a:r>
            <a:r>
              <a:rPr lang="en-US" b="1" u="sng" spc="-25" dirty="0">
                <a:latin typeface="Calibri"/>
                <a:cs typeface="Calibri"/>
              </a:rPr>
              <a:t>S3</a:t>
            </a:r>
            <a:br>
              <a:rPr lang="en-US" dirty="0">
                <a:latin typeface="Calibri"/>
                <a:cs typeface="Calibri"/>
              </a:rPr>
            </a:br>
            <a:endParaRPr lang="en-IN" dirty="0"/>
          </a:p>
        </p:txBody>
      </p:sp>
      <p:sp>
        <p:nvSpPr>
          <p:cNvPr id="3" name="Content Placeholder 2">
            <a:extLst>
              <a:ext uri="{FF2B5EF4-FFF2-40B4-BE49-F238E27FC236}">
                <a16:creationId xmlns:a16="http://schemas.microsoft.com/office/drawing/2014/main" id="{E7973368-C7C4-B379-3094-4C7E8F2CFF6B}"/>
              </a:ext>
            </a:extLst>
          </p:cNvPr>
          <p:cNvSpPr>
            <a:spLocks noGrp="1"/>
          </p:cNvSpPr>
          <p:nvPr>
            <p:ph idx="1"/>
          </p:nvPr>
        </p:nvSpPr>
        <p:spPr>
          <a:xfrm>
            <a:off x="0" y="1124147"/>
            <a:ext cx="7955280" cy="4866640"/>
          </a:xfrm>
        </p:spPr>
        <p:txBody>
          <a:bodyPr/>
          <a:lstStyle/>
          <a:p>
            <a:pPr>
              <a:lnSpc>
                <a:spcPct val="100000"/>
              </a:lnSpc>
              <a:spcBef>
                <a:spcPts val="95"/>
              </a:spcBef>
            </a:pPr>
            <a:endParaRPr lang="en-US" sz="1200" dirty="0">
              <a:latin typeface="Calibri"/>
              <a:cs typeface="Calibri"/>
            </a:endParaRPr>
          </a:p>
          <a:p>
            <a:pPr marL="471170" indent="-229870">
              <a:lnSpc>
                <a:spcPct val="100000"/>
              </a:lnSpc>
              <a:buFont typeface="Calibri"/>
              <a:buAutoNum type="arabicPeriod"/>
              <a:tabLst>
                <a:tab pos="471170" algn="l"/>
              </a:tabLst>
            </a:pPr>
            <a:r>
              <a:rPr lang="en-US" sz="1600" b="1" u="sng" spc="-10" dirty="0">
                <a:latin typeface="Calibri"/>
                <a:cs typeface="Calibri"/>
              </a:rPr>
              <a:t>Creating </a:t>
            </a:r>
            <a:r>
              <a:rPr lang="en-US" sz="1600" b="1" u="sng" dirty="0">
                <a:latin typeface="Calibri"/>
                <a:cs typeface="Calibri"/>
              </a:rPr>
              <a:t>an</a:t>
            </a:r>
            <a:r>
              <a:rPr lang="en-US" sz="1600" b="1" u="sng" spc="-5" dirty="0">
                <a:latin typeface="Calibri"/>
                <a:cs typeface="Calibri"/>
              </a:rPr>
              <a:t> </a:t>
            </a:r>
            <a:r>
              <a:rPr lang="en-US" sz="1600" b="1" u="sng" dirty="0">
                <a:latin typeface="Calibri"/>
                <a:cs typeface="Calibri"/>
              </a:rPr>
              <a:t>S3</a:t>
            </a:r>
            <a:r>
              <a:rPr lang="en-US" sz="1600" b="1" u="sng" spc="-25" dirty="0">
                <a:latin typeface="Calibri"/>
                <a:cs typeface="Calibri"/>
              </a:rPr>
              <a:t> </a:t>
            </a:r>
            <a:r>
              <a:rPr lang="en-US" sz="1600" b="1" u="sng" spc="-10" dirty="0">
                <a:latin typeface="Calibri"/>
                <a:cs typeface="Calibri"/>
              </a:rPr>
              <a:t>Bucket:</a:t>
            </a:r>
            <a:endParaRPr lang="en-US" sz="1600" u="sng" dirty="0">
              <a:latin typeface="Calibri"/>
              <a:cs typeface="Calibri"/>
            </a:endParaRPr>
          </a:p>
          <a:p>
            <a:pPr marL="927100" lvl="1">
              <a:lnSpc>
                <a:spcPct val="100000"/>
              </a:lnSpc>
              <a:buSzPct val="83333"/>
              <a:buFont typeface="Courier New"/>
              <a:buChar char="o"/>
              <a:tabLst>
                <a:tab pos="927100" algn="l"/>
              </a:tabLst>
            </a:pPr>
            <a:r>
              <a:rPr lang="en-US" sz="1600" spc="-10" dirty="0">
                <a:latin typeface="Calibri"/>
                <a:cs typeface="Calibri"/>
              </a:rPr>
              <a:t>Created</a:t>
            </a:r>
            <a:r>
              <a:rPr lang="en-US" sz="1600" spc="-15" dirty="0">
                <a:latin typeface="Calibri"/>
                <a:cs typeface="Calibri"/>
              </a:rPr>
              <a:t> </a:t>
            </a:r>
            <a:r>
              <a:rPr lang="en-US" sz="1600" spc="-10" dirty="0">
                <a:latin typeface="Calibri"/>
                <a:cs typeface="Calibri"/>
              </a:rPr>
              <a:t>bucket</a:t>
            </a:r>
            <a:r>
              <a:rPr lang="en-US" sz="1600" spc="5" dirty="0">
                <a:latin typeface="Calibri"/>
                <a:cs typeface="Calibri"/>
              </a:rPr>
              <a:t> </a:t>
            </a:r>
            <a:r>
              <a:rPr lang="en-US" sz="1600" spc="-20" dirty="0">
                <a:latin typeface="Calibri"/>
                <a:cs typeface="Calibri"/>
              </a:rPr>
              <a:t>foodbank-project- </a:t>
            </a:r>
            <a:r>
              <a:rPr lang="en-US" sz="1600" dirty="0">
                <a:latin typeface="Calibri"/>
                <a:cs typeface="Calibri"/>
              </a:rPr>
              <a:t>vamsi</a:t>
            </a:r>
            <a:r>
              <a:rPr lang="en-US" sz="1600" spc="-15" dirty="0">
                <a:latin typeface="Calibri"/>
                <a:cs typeface="Calibri"/>
              </a:rPr>
              <a:t> </a:t>
            </a:r>
            <a:r>
              <a:rPr lang="en-US" sz="1600" dirty="0">
                <a:latin typeface="Calibri"/>
                <a:cs typeface="Calibri"/>
              </a:rPr>
              <a:t>and</a:t>
            </a:r>
            <a:r>
              <a:rPr lang="en-US" sz="1600" spc="-15" dirty="0">
                <a:latin typeface="Calibri"/>
                <a:cs typeface="Calibri"/>
              </a:rPr>
              <a:t> </a:t>
            </a:r>
            <a:r>
              <a:rPr lang="en-US" sz="1600" dirty="0">
                <a:latin typeface="Calibri"/>
                <a:cs typeface="Calibri"/>
              </a:rPr>
              <a:t>enabled</a:t>
            </a:r>
            <a:r>
              <a:rPr lang="en-US" sz="1600" spc="-10" dirty="0">
                <a:latin typeface="Calibri"/>
                <a:cs typeface="Calibri"/>
              </a:rPr>
              <a:t> static </a:t>
            </a:r>
            <a:r>
              <a:rPr lang="en-US" sz="1600" dirty="0">
                <a:latin typeface="Calibri"/>
                <a:cs typeface="Calibri"/>
              </a:rPr>
              <a:t>website </a:t>
            </a:r>
            <a:r>
              <a:rPr lang="en-US" sz="1600" spc="-10" dirty="0">
                <a:latin typeface="Calibri"/>
                <a:cs typeface="Calibri"/>
              </a:rPr>
              <a:t>hosting.</a:t>
            </a:r>
            <a:endParaRPr lang="en-US" sz="1600" dirty="0">
              <a:latin typeface="Calibri"/>
              <a:cs typeface="Calibri"/>
            </a:endParaRPr>
          </a:p>
          <a:p>
            <a:pPr marL="471170" indent="-229870">
              <a:lnSpc>
                <a:spcPct val="100000"/>
              </a:lnSpc>
              <a:buFont typeface="Calibri"/>
              <a:buAutoNum type="arabicPeriod"/>
              <a:tabLst>
                <a:tab pos="471170" algn="l"/>
              </a:tabLst>
            </a:pPr>
            <a:r>
              <a:rPr lang="en-US" sz="1600" b="1" u="sng" dirty="0">
                <a:latin typeface="Calibri"/>
                <a:cs typeface="Calibri"/>
              </a:rPr>
              <a:t>Uploading</a:t>
            </a:r>
            <a:r>
              <a:rPr lang="en-US" sz="1600" b="1" u="sng" spc="-25" dirty="0">
                <a:latin typeface="Calibri"/>
                <a:cs typeface="Calibri"/>
              </a:rPr>
              <a:t> </a:t>
            </a:r>
            <a:r>
              <a:rPr lang="en-US" sz="1600" b="1" u="sng" spc="-20" dirty="0">
                <a:latin typeface="Calibri"/>
                <a:cs typeface="Calibri"/>
              </a:rPr>
              <a:t>Front-</a:t>
            </a:r>
            <a:r>
              <a:rPr lang="en-US" sz="1600" b="1" u="sng" dirty="0">
                <a:latin typeface="Calibri"/>
                <a:cs typeface="Calibri"/>
              </a:rPr>
              <a:t>End</a:t>
            </a:r>
            <a:r>
              <a:rPr lang="en-US" sz="1600" b="1" u="sng" spc="-20" dirty="0">
                <a:latin typeface="Calibri"/>
                <a:cs typeface="Calibri"/>
              </a:rPr>
              <a:t> Files:</a:t>
            </a:r>
            <a:endParaRPr lang="en-US" sz="1600" u="sng" dirty="0">
              <a:latin typeface="Calibri"/>
              <a:cs typeface="Calibri"/>
            </a:endParaRPr>
          </a:p>
          <a:p>
            <a:pPr marL="927100" lvl="1">
              <a:lnSpc>
                <a:spcPct val="100000"/>
              </a:lnSpc>
              <a:buSzPct val="83333"/>
              <a:buFont typeface="Courier New"/>
              <a:buChar char="o"/>
              <a:tabLst>
                <a:tab pos="927100" algn="l"/>
              </a:tabLst>
            </a:pPr>
            <a:r>
              <a:rPr lang="en-US" sz="1600" dirty="0">
                <a:latin typeface="Calibri"/>
                <a:cs typeface="Calibri"/>
              </a:rPr>
              <a:t>Uploaded</a:t>
            </a:r>
            <a:r>
              <a:rPr lang="en-US" sz="1600" spc="-35" dirty="0">
                <a:latin typeface="Calibri"/>
                <a:cs typeface="Calibri"/>
              </a:rPr>
              <a:t> </a:t>
            </a:r>
            <a:r>
              <a:rPr lang="en-US" sz="1600" spc="-10" dirty="0">
                <a:latin typeface="Calibri"/>
                <a:cs typeface="Calibri"/>
              </a:rPr>
              <a:t>index.html,</a:t>
            </a:r>
            <a:r>
              <a:rPr lang="en-US" sz="1600" spc="-40" dirty="0">
                <a:latin typeface="Calibri"/>
                <a:cs typeface="Calibri"/>
              </a:rPr>
              <a:t> </a:t>
            </a:r>
            <a:r>
              <a:rPr lang="en-US" sz="1600" dirty="0">
                <a:latin typeface="Calibri"/>
                <a:cs typeface="Calibri"/>
              </a:rPr>
              <a:t>style.css,</a:t>
            </a:r>
            <a:r>
              <a:rPr lang="en-US" sz="1600" spc="-40" dirty="0">
                <a:latin typeface="Calibri"/>
                <a:cs typeface="Calibri"/>
              </a:rPr>
              <a:t> </a:t>
            </a:r>
            <a:r>
              <a:rPr lang="en-US" sz="1600" dirty="0">
                <a:latin typeface="Calibri"/>
                <a:cs typeface="Calibri"/>
              </a:rPr>
              <a:t>and</a:t>
            </a:r>
            <a:r>
              <a:rPr lang="en-US" sz="1600" spc="-35" dirty="0">
                <a:latin typeface="Calibri"/>
                <a:cs typeface="Calibri"/>
              </a:rPr>
              <a:t> </a:t>
            </a:r>
            <a:r>
              <a:rPr lang="en-US" sz="1600" spc="-10" dirty="0">
                <a:latin typeface="Calibri"/>
                <a:cs typeface="Calibri"/>
              </a:rPr>
              <a:t>script.js.</a:t>
            </a:r>
            <a:endParaRPr lang="en-US" sz="1600" dirty="0">
              <a:latin typeface="Calibri"/>
              <a:cs typeface="Calibri"/>
            </a:endParaRPr>
          </a:p>
          <a:p>
            <a:pPr marL="471170" indent="-229870">
              <a:lnSpc>
                <a:spcPct val="100000"/>
              </a:lnSpc>
              <a:buFont typeface="Calibri"/>
              <a:buAutoNum type="arabicPeriod"/>
              <a:tabLst>
                <a:tab pos="471170" algn="l"/>
              </a:tabLst>
            </a:pPr>
            <a:r>
              <a:rPr lang="en-US" sz="1600" b="1" u="sng" dirty="0">
                <a:latin typeface="Calibri"/>
                <a:cs typeface="Calibri"/>
              </a:rPr>
              <a:t>Making</a:t>
            </a:r>
            <a:r>
              <a:rPr lang="en-US" sz="1600" b="1" u="sng" spc="-35" dirty="0">
                <a:latin typeface="Calibri"/>
                <a:cs typeface="Calibri"/>
              </a:rPr>
              <a:t> </a:t>
            </a:r>
            <a:r>
              <a:rPr lang="en-US" sz="1600" b="1" u="sng" dirty="0">
                <a:latin typeface="Calibri"/>
                <a:cs typeface="Calibri"/>
              </a:rPr>
              <a:t>it</a:t>
            </a:r>
            <a:r>
              <a:rPr lang="en-US" sz="1600" b="1" u="sng" spc="-45" dirty="0">
                <a:latin typeface="Calibri"/>
                <a:cs typeface="Calibri"/>
              </a:rPr>
              <a:t> </a:t>
            </a:r>
            <a:r>
              <a:rPr lang="en-US" sz="1600" b="1" u="sng" spc="-10" dirty="0">
                <a:latin typeface="Calibri"/>
                <a:cs typeface="Calibri"/>
              </a:rPr>
              <a:t>Public:</a:t>
            </a:r>
            <a:endParaRPr lang="en-US" sz="1600" u="sng" dirty="0">
              <a:latin typeface="Calibri"/>
              <a:cs typeface="Calibri"/>
            </a:endParaRPr>
          </a:p>
          <a:p>
            <a:pPr marL="927100" lvl="1">
              <a:lnSpc>
                <a:spcPct val="100000"/>
              </a:lnSpc>
              <a:buSzPct val="83333"/>
              <a:buFont typeface="Courier New"/>
              <a:buChar char="o"/>
              <a:tabLst>
                <a:tab pos="927100" algn="l"/>
              </a:tabLst>
            </a:pPr>
            <a:r>
              <a:rPr lang="en-US" sz="1600" dirty="0">
                <a:latin typeface="Calibri"/>
                <a:cs typeface="Calibri"/>
              </a:rPr>
              <a:t>Updated</a:t>
            </a:r>
            <a:r>
              <a:rPr lang="en-US" sz="1600" spc="-45" dirty="0">
                <a:latin typeface="Calibri"/>
                <a:cs typeface="Calibri"/>
              </a:rPr>
              <a:t> </a:t>
            </a:r>
            <a:r>
              <a:rPr lang="en-US" sz="1600" spc="-10" dirty="0">
                <a:latin typeface="Calibri"/>
                <a:cs typeface="Calibri"/>
              </a:rPr>
              <a:t>bucket</a:t>
            </a:r>
            <a:r>
              <a:rPr lang="en-US" sz="1600" spc="-25" dirty="0">
                <a:latin typeface="Calibri"/>
                <a:cs typeface="Calibri"/>
              </a:rPr>
              <a:t> </a:t>
            </a:r>
            <a:r>
              <a:rPr lang="en-US" sz="1600" dirty="0">
                <a:latin typeface="Calibri"/>
                <a:cs typeface="Calibri"/>
              </a:rPr>
              <a:t>policy</a:t>
            </a:r>
            <a:r>
              <a:rPr lang="en-US" sz="1600" spc="-30" dirty="0">
                <a:latin typeface="Calibri"/>
                <a:cs typeface="Calibri"/>
              </a:rPr>
              <a:t> </a:t>
            </a:r>
            <a:r>
              <a:rPr lang="en-US" sz="1600" dirty="0">
                <a:latin typeface="Calibri"/>
                <a:cs typeface="Calibri"/>
              </a:rPr>
              <a:t>to</a:t>
            </a:r>
            <a:r>
              <a:rPr lang="en-US" sz="1600" spc="-45" dirty="0">
                <a:latin typeface="Calibri"/>
                <a:cs typeface="Calibri"/>
              </a:rPr>
              <a:t> </a:t>
            </a:r>
            <a:r>
              <a:rPr lang="en-US" sz="1600" dirty="0">
                <a:latin typeface="Calibri"/>
                <a:cs typeface="Calibri"/>
              </a:rPr>
              <a:t>allow</a:t>
            </a:r>
            <a:r>
              <a:rPr lang="en-US" sz="1600" spc="-35" dirty="0">
                <a:latin typeface="Calibri"/>
                <a:cs typeface="Calibri"/>
              </a:rPr>
              <a:t> </a:t>
            </a:r>
            <a:r>
              <a:rPr lang="en-US" sz="1600" dirty="0">
                <a:latin typeface="Calibri"/>
                <a:cs typeface="Calibri"/>
              </a:rPr>
              <a:t>public</a:t>
            </a:r>
            <a:r>
              <a:rPr lang="en-US" sz="1600" spc="-15" dirty="0">
                <a:latin typeface="Calibri"/>
                <a:cs typeface="Calibri"/>
              </a:rPr>
              <a:t> </a:t>
            </a:r>
            <a:r>
              <a:rPr lang="en-US" sz="1600" dirty="0">
                <a:latin typeface="Calibri"/>
                <a:cs typeface="Calibri"/>
              </a:rPr>
              <a:t>read</a:t>
            </a:r>
            <a:r>
              <a:rPr lang="en-US" sz="1600" spc="-45" dirty="0">
                <a:latin typeface="Calibri"/>
                <a:cs typeface="Calibri"/>
              </a:rPr>
              <a:t> </a:t>
            </a:r>
            <a:r>
              <a:rPr lang="en-US" sz="1600" spc="-10" dirty="0">
                <a:latin typeface="Calibri"/>
                <a:cs typeface="Calibri"/>
              </a:rPr>
              <a:t>access.</a:t>
            </a:r>
          </a:p>
          <a:p>
            <a:pPr marL="927100" lvl="1">
              <a:lnSpc>
                <a:spcPct val="100000"/>
              </a:lnSpc>
              <a:buSzPct val="83333"/>
              <a:buFont typeface="Courier New"/>
              <a:buChar char="o"/>
              <a:tabLst>
                <a:tab pos="927100" algn="l"/>
              </a:tabLst>
            </a:pPr>
            <a:endParaRPr lang="en-US" sz="1200" dirty="0">
              <a:latin typeface="Calibri"/>
              <a:cs typeface="Calibri"/>
            </a:endParaRPr>
          </a:p>
          <a:p>
            <a:endParaRPr lang="en-IN" dirty="0"/>
          </a:p>
        </p:txBody>
      </p:sp>
      <p:pic>
        <p:nvPicPr>
          <p:cNvPr id="4" name="object 5">
            <a:extLst>
              <a:ext uri="{FF2B5EF4-FFF2-40B4-BE49-F238E27FC236}">
                <a16:creationId xmlns:a16="http://schemas.microsoft.com/office/drawing/2014/main" id="{7B9288F9-BE86-34CE-C247-D788250F8CAA}"/>
              </a:ext>
            </a:extLst>
          </p:cNvPr>
          <p:cNvPicPr/>
          <p:nvPr/>
        </p:nvPicPr>
        <p:blipFill>
          <a:blip r:embed="rId2" cstate="print"/>
          <a:stretch>
            <a:fillRect/>
          </a:stretch>
        </p:blipFill>
        <p:spPr>
          <a:xfrm>
            <a:off x="1188720" y="3661084"/>
            <a:ext cx="5731509" cy="2329703"/>
          </a:xfrm>
          <a:prstGeom prst="rect">
            <a:avLst/>
          </a:prstGeom>
        </p:spPr>
      </p:pic>
      <p:sp>
        <p:nvSpPr>
          <p:cNvPr id="5" name="TextBox 4">
            <a:extLst>
              <a:ext uri="{FF2B5EF4-FFF2-40B4-BE49-F238E27FC236}">
                <a16:creationId xmlns:a16="http://schemas.microsoft.com/office/drawing/2014/main" id="{C8A867F1-1F03-2B0A-1D9B-1B35C72197F1}"/>
              </a:ext>
            </a:extLst>
          </p:cNvPr>
          <p:cNvSpPr txBox="1"/>
          <p:nvPr/>
        </p:nvSpPr>
        <p:spPr>
          <a:xfrm>
            <a:off x="2719712" y="6199844"/>
            <a:ext cx="3098800" cy="646331"/>
          </a:xfrm>
          <a:prstGeom prst="rect">
            <a:avLst/>
          </a:prstGeom>
          <a:noFill/>
        </p:spPr>
        <p:txBody>
          <a:bodyPr wrap="square" rtlCol="0">
            <a:spAutoFit/>
          </a:bodyPr>
          <a:lstStyle/>
          <a:p>
            <a:r>
              <a:rPr lang="en-US" b="1" dirty="0">
                <a:latin typeface="Calibri"/>
                <a:cs typeface="Calibri"/>
              </a:rPr>
              <a:t>Fig</a:t>
            </a:r>
            <a:r>
              <a:rPr lang="en-US" b="1" spc="-15" dirty="0">
                <a:latin typeface="Calibri"/>
                <a:cs typeface="Calibri"/>
              </a:rPr>
              <a:t> </a:t>
            </a:r>
            <a:r>
              <a:rPr lang="en-US" b="1" dirty="0">
                <a:latin typeface="Calibri"/>
                <a:cs typeface="Calibri"/>
              </a:rPr>
              <a:t>F:CODES</a:t>
            </a:r>
            <a:r>
              <a:rPr lang="en-US" b="1" spc="-15" dirty="0">
                <a:latin typeface="Calibri"/>
                <a:cs typeface="Calibri"/>
              </a:rPr>
              <a:t> </a:t>
            </a:r>
            <a:r>
              <a:rPr lang="en-US" b="1" dirty="0">
                <a:latin typeface="Calibri"/>
                <a:cs typeface="Calibri"/>
              </a:rPr>
              <a:t>IN</a:t>
            </a:r>
            <a:r>
              <a:rPr lang="en-US" b="1" spc="-30" dirty="0">
                <a:latin typeface="Calibri"/>
                <a:cs typeface="Calibri"/>
              </a:rPr>
              <a:t> </a:t>
            </a:r>
            <a:r>
              <a:rPr lang="en-US" b="1" dirty="0">
                <a:latin typeface="Calibri"/>
                <a:cs typeface="Calibri"/>
              </a:rPr>
              <a:t>S3</a:t>
            </a:r>
            <a:r>
              <a:rPr lang="en-US" b="1" spc="-30" dirty="0">
                <a:latin typeface="Calibri"/>
                <a:cs typeface="Calibri"/>
              </a:rPr>
              <a:t> </a:t>
            </a:r>
            <a:r>
              <a:rPr lang="en-US" b="1" spc="-10" dirty="0">
                <a:latin typeface="Calibri"/>
                <a:cs typeface="Calibri"/>
              </a:rPr>
              <a:t>BUCKET</a:t>
            </a:r>
            <a:endParaRPr lang="en-US" dirty="0">
              <a:latin typeface="Calibri"/>
              <a:cs typeface="Calibri"/>
            </a:endParaRPr>
          </a:p>
          <a:p>
            <a:endParaRPr lang="en-IN" dirty="0"/>
          </a:p>
        </p:txBody>
      </p:sp>
    </p:spTree>
    <p:extLst>
      <p:ext uri="{BB962C8B-B14F-4D97-AF65-F5344CB8AC3E}">
        <p14:creationId xmlns:p14="http://schemas.microsoft.com/office/powerpoint/2010/main" val="42377183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ject 4">
            <a:extLst>
              <a:ext uri="{FF2B5EF4-FFF2-40B4-BE49-F238E27FC236}">
                <a16:creationId xmlns:a16="http://schemas.microsoft.com/office/drawing/2014/main" id="{34B296DE-DE51-AE12-393D-4FF9587EBCEF}"/>
              </a:ext>
            </a:extLst>
          </p:cNvPr>
          <p:cNvPicPr>
            <a:picLocks noGrp="1"/>
          </p:cNvPicPr>
          <p:nvPr>
            <p:ph idx="1"/>
          </p:nvPr>
        </p:nvPicPr>
        <p:blipFill>
          <a:blip r:embed="rId2" cstate="print"/>
          <a:stretch>
            <a:fillRect/>
          </a:stretch>
        </p:blipFill>
        <p:spPr>
          <a:xfrm>
            <a:off x="1913466" y="735382"/>
            <a:ext cx="5461002" cy="2168686"/>
          </a:xfrm>
          <a:prstGeom prst="rect">
            <a:avLst/>
          </a:prstGeom>
        </p:spPr>
      </p:pic>
      <p:sp>
        <p:nvSpPr>
          <p:cNvPr id="7" name="TextBox 6">
            <a:extLst>
              <a:ext uri="{FF2B5EF4-FFF2-40B4-BE49-F238E27FC236}">
                <a16:creationId xmlns:a16="http://schemas.microsoft.com/office/drawing/2014/main" id="{7386B4BF-C077-7A41-E420-06407348779B}"/>
              </a:ext>
            </a:extLst>
          </p:cNvPr>
          <p:cNvSpPr txBox="1"/>
          <p:nvPr/>
        </p:nvSpPr>
        <p:spPr>
          <a:xfrm>
            <a:off x="3344332" y="3064933"/>
            <a:ext cx="2523067" cy="646331"/>
          </a:xfrm>
          <a:prstGeom prst="rect">
            <a:avLst/>
          </a:prstGeom>
          <a:noFill/>
        </p:spPr>
        <p:txBody>
          <a:bodyPr wrap="square" rtlCol="0">
            <a:spAutoFit/>
          </a:bodyPr>
          <a:lstStyle/>
          <a:p>
            <a:r>
              <a:rPr lang="en-IN" b="1" dirty="0">
                <a:latin typeface="Calibri"/>
                <a:cs typeface="Calibri"/>
              </a:rPr>
              <a:t>Fig</a:t>
            </a:r>
            <a:r>
              <a:rPr lang="en-IN" b="1" spc="-15" dirty="0">
                <a:latin typeface="Calibri"/>
                <a:cs typeface="Calibri"/>
              </a:rPr>
              <a:t> </a:t>
            </a:r>
            <a:r>
              <a:rPr lang="en-IN" b="1" dirty="0">
                <a:latin typeface="Calibri"/>
                <a:cs typeface="Calibri"/>
              </a:rPr>
              <a:t>G:BUCKET</a:t>
            </a:r>
            <a:r>
              <a:rPr lang="en-IN" b="1" spc="-30" dirty="0">
                <a:latin typeface="Calibri"/>
                <a:cs typeface="Calibri"/>
              </a:rPr>
              <a:t> </a:t>
            </a:r>
            <a:r>
              <a:rPr lang="en-IN" b="1" spc="-10" dirty="0">
                <a:latin typeface="Calibri"/>
                <a:cs typeface="Calibri"/>
              </a:rPr>
              <a:t>POLICY</a:t>
            </a:r>
            <a:endParaRPr lang="en-IN" dirty="0">
              <a:latin typeface="Calibri"/>
              <a:cs typeface="Calibri"/>
            </a:endParaRPr>
          </a:p>
          <a:p>
            <a:endParaRPr lang="en-IN" dirty="0"/>
          </a:p>
        </p:txBody>
      </p:sp>
      <p:pic>
        <p:nvPicPr>
          <p:cNvPr id="10" name="object 5">
            <a:extLst>
              <a:ext uri="{FF2B5EF4-FFF2-40B4-BE49-F238E27FC236}">
                <a16:creationId xmlns:a16="http://schemas.microsoft.com/office/drawing/2014/main" id="{8D419DDC-2C80-1D6C-5EC8-B450A427FB8A}"/>
              </a:ext>
            </a:extLst>
          </p:cNvPr>
          <p:cNvPicPr/>
          <p:nvPr/>
        </p:nvPicPr>
        <p:blipFill>
          <a:blip r:embed="rId3" cstate="print"/>
          <a:stretch>
            <a:fillRect/>
          </a:stretch>
        </p:blipFill>
        <p:spPr>
          <a:xfrm>
            <a:off x="1740110" y="3429000"/>
            <a:ext cx="5731509" cy="2168686"/>
          </a:xfrm>
          <a:prstGeom prst="rect">
            <a:avLst/>
          </a:prstGeom>
        </p:spPr>
      </p:pic>
      <p:sp>
        <p:nvSpPr>
          <p:cNvPr id="12" name="TextBox 11">
            <a:extLst>
              <a:ext uri="{FF2B5EF4-FFF2-40B4-BE49-F238E27FC236}">
                <a16:creationId xmlns:a16="http://schemas.microsoft.com/office/drawing/2014/main" id="{E63CA79E-5977-9BD7-B46E-09C932A810A2}"/>
              </a:ext>
            </a:extLst>
          </p:cNvPr>
          <p:cNvSpPr txBox="1"/>
          <p:nvPr/>
        </p:nvSpPr>
        <p:spPr>
          <a:xfrm>
            <a:off x="3344332" y="5774267"/>
            <a:ext cx="3090333" cy="646331"/>
          </a:xfrm>
          <a:prstGeom prst="rect">
            <a:avLst/>
          </a:prstGeom>
          <a:noFill/>
        </p:spPr>
        <p:txBody>
          <a:bodyPr wrap="square" rtlCol="0">
            <a:spAutoFit/>
          </a:bodyPr>
          <a:lstStyle/>
          <a:p>
            <a:r>
              <a:rPr lang="en-US" b="1" dirty="0">
                <a:latin typeface="Calibri"/>
                <a:cs typeface="Calibri"/>
              </a:rPr>
              <a:t>Fig</a:t>
            </a:r>
            <a:r>
              <a:rPr lang="en-US" b="1" spc="-5" dirty="0">
                <a:latin typeface="Calibri"/>
                <a:cs typeface="Calibri"/>
              </a:rPr>
              <a:t> </a:t>
            </a:r>
            <a:r>
              <a:rPr lang="en-US" b="1" spc="-30" dirty="0">
                <a:latin typeface="Calibri"/>
                <a:cs typeface="Calibri"/>
              </a:rPr>
              <a:t>H:STATIC</a:t>
            </a:r>
            <a:r>
              <a:rPr lang="en-US" b="1" spc="-20" dirty="0">
                <a:latin typeface="Calibri"/>
                <a:cs typeface="Calibri"/>
              </a:rPr>
              <a:t> </a:t>
            </a:r>
            <a:r>
              <a:rPr lang="en-US" b="1" spc="-10" dirty="0">
                <a:latin typeface="Calibri"/>
                <a:cs typeface="Calibri"/>
              </a:rPr>
              <a:t>WEBSITE</a:t>
            </a:r>
            <a:r>
              <a:rPr lang="en-US" b="1" spc="-20" dirty="0">
                <a:latin typeface="Calibri"/>
                <a:cs typeface="Calibri"/>
              </a:rPr>
              <a:t> </a:t>
            </a:r>
            <a:r>
              <a:rPr lang="en-US" b="1" spc="-10" dirty="0">
                <a:latin typeface="Calibri"/>
                <a:cs typeface="Calibri"/>
              </a:rPr>
              <a:t>POLICY</a:t>
            </a:r>
            <a:endParaRPr lang="en-US" dirty="0">
              <a:latin typeface="Calibri"/>
              <a:cs typeface="Calibri"/>
            </a:endParaRPr>
          </a:p>
          <a:p>
            <a:endParaRPr lang="en-IN" dirty="0"/>
          </a:p>
        </p:txBody>
      </p:sp>
    </p:spTree>
    <p:extLst>
      <p:ext uri="{BB962C8B-B14F-4D97-AF65-F5344CB8AC3E}">
        <p14:creationId xmlns:p14="http://schemas.microsoft.com/office/powerpoint/2010/main" val="13194510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24">
            <a:extLst>
              <a:ext uri="{FF2B5EF4-FFF2-40B4-BE49-F238E27FC236}">
                <a16:creationId xmlns:a16="http://schemas.microsoft.com/office/drawing/2014/main" id="{B2BA8DB0-6FA8-02DF-3DCB-A94AB761BEF3}"/>
              </a:ext>
            </a:extLst>
          </p:cNvPr>
          <p:cNvPicPr>
            <a:picLocks noGrp="1"/>
          </p:cNvPicPr>
          <p:nvPr>
            <p:ph idx="1"/>
          </p:nvPr>
        </p:nvPicPr>
        <p:blipFill>
          <a:blip r:embed="rId2" cstate="print">
            <a:extLst>
              <a:ext uri="{28A0092B-C50C-407E-A947-70E740481C1C}">
                <a14:useLocalDpi xmlns:a14="http://schemas.microsoft.com/office/drawing/2010/main" val="0"/>
              </a:ext>
            </a:extLst>
          </a:blip>
          <a:stretch>
            <a:fillRect/>
          </a:stretch>
        </p:blipFill>
        <p:spPr>
          <a:xfrm>
            <a:off x="98323" y="157316"/>
            <a:ext cx="9045677" cy="5820697"/>
          </a:xfrm>
          <a:prstGeom prst="rect">
            <a:avLst/>
          </a:prstGeom>
        </p:spPr>
      </p:pic>
      <p:sp>
        <p:nvSpPr>
          <p:cNvPr id="7" name="TextBox 6">
            <a:extLst>
              <a:ext uri="{FF2B5EF4-FFF2-40B4-BE49-F238E27FC236}">
                <a16:creationId xmlns:a16="http://schemas.microsoft.com/office/drawing/2014/main" id="{27BBF6D9-4246-B9F1-CBD8-5F7AD57C4C51}"/>
              </a:ext>
            </a:extLst>
          </p:cNvPr>
          <p:cNvSpPr txBox="1"/>
          <p:nvPr/>
        </p:nvSpPr>
        <p:spPr>
          <a:xfrm>
            <a:off x="3445933" y="5774267"/>
            <a:ext cx="2827867" cy="461665"/>
          </a:xfrm>
          <a:prstGeom prst="rect">
            <a:avLst/>
          </a:prstGeom>
          <a:noFill/>
        </p:spPr>
        <p:txBody>
          <a:bodyPr wrap="square" rtlCol="0">
            <a:spAutoFit/>
          </a:bodyPr>
          <a:lstStyle/>
          <a:p>
            <a:r>
              <a:rPr lang="en-IN" sz="2400" b="1" dirty="0"/>
              <a:t>FIG1:WEBSITE</a:t>
            </a:r>
          </a:p>
        </p:txBody>
      </p:sp>
    </p:spTree>
    <p:extLst>
      <p:ext uri="{BB962C8B-B14F-4D97-AF65-F5344CB8AC3E}">
        <p14:creationId xmlns:p14="http://schemas.microsoft.com/office/powerpoint/2010/main" val="14530178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377940" cy="1293028"/>
          </a:xfrm>
        </p:spPr>
        <p:txBody>
          <a:bodyPr/>
          <a:lstStyle/>
          <a:p>
            <a:pPr algn="l"/>
            <a:r>
              <a:rPr u="sng" dirty="0"/>
              <a:t>Benefits of AWS</a:t>
            </a:r>
          </a:p>
        </p:txBody>
      </p:sp>
      <p:sp>
        <p:nvSpPr>
          <p:cNvPr id="3" name="Content Placeholder 2"/>
          <p:cNvSpPr>
            <a:spLocks noGrp="1"/>
          </p:cNvSpPr>
          <p:nvPr>
            <p:ph idx="1"/>
          </p:nvPr>
        </p:nvSpPr>
        <p:spPr>
          <a:xfrm>
            <a:off x="-1" y="1093347"/>
            <a:ext cx="9026013" cy="4069080"/>
          </a:xfrm>
        </p:spPr>
        <p:txBody>
          <a:bodyPr>
            <a:normAutofit fontScale="77500" lnSpcReduction="20000"/>
          </a:bodyPr>
          <a:lstStyle/>
          <a:p>
            <a:pPr>
              <a:lnSpc>
                <a:spcPct val="150000"/>
              </a:lnSpc>
            </a:pPr>
            <a:r>
              <a:rPr u="sng" dirty="0"/>
              <a:t>Scalability</a:t>
            </a:r>
            <a:r>
              <a:rPr lang="en-US" u="sng" dirty="0"/>
              <a:t> </a:t>
            </a:r>
            <a:r>
              <a:rPr dirty="0"/>
              <a:t>:</a:t>
            </a:r>
            <a:r>
              <a:rPr lang="en-US" dirty="0"/>
              <a:t> The system automatically scales based on incoming traffic or data volume. For example, </a:t>
            </a:r>
            <a:r>
              <a:rPr lang="en-US" b="1" dirty="0"/>
              <a:t>Lambda</a:t>
            </a:r>
            <a:r>
              <a:rPr lang="en-US" dirty="0"/>
              <a:t> scales up instantly when more donation requests come in, and </a:t>
            </a:r>
            <a:r>
              <a:rPr lang="en-US" b="1" dirty="0"/>
              <a:t>DynamoDB</a:t>
            </a:r>
            <a:r>
              <a:rPr lang="en-US" dirty="0"/>
              <a:t> can handle thousands of read/write requests per second without manual intervention.</a:t>
            </a:r>
            <a:endParaRPr dirty="0"/>
          </a:p>
          <a:p>
            <a:pPr>
              <a:lnSpc>
                <a:spcPct val="150000"/>
              </a:lnSpc>
            </a:pPr>
            <a:r>
              <a:rPr u="sng" dirty="0"/>
              <a:t>Cost-effective</a:t>
            </a:r>
            <a:r>
              <a:rPr lang="en-US" dirty="0"/>
              <a:t> </a:t>
            </a:r>
            <a:r>
              <a:rPr dirty="0"/>
              <a:t>: </a:t>
            </a:r>
            <a:r>
              <a:rPr lang="en-US" dirty="0"/>
              <a:t>You only pay for what you use. With </a:t>
            </a:r>
            <a:r>
              <a:rPr lang="en-US" b="1" dirty="0"/>
              <a:t>Lambda</a:t>
            </a:r>
            <a:r>
              <a:rPr lang="en-US" dirty="0"/>
              <a:t>, charges are based on the number of requests and execution time. </a:t>
            </a:r>
            <a:r>
              <a:rPr lang="en-US" b="1" dirty="0"/>
              <a:t>DynamoDB</a:t>
            </a:r>
            <a:r>
              <a:rPr lang="en-US" dirty="0"/>
              <a:t> and </a:t>
            </a:r>
            <a:r>
              <a:rPr lang="en-US" b="1" dirty="0"/>
              <a:t>S3</a:t>
            </a:r>
            <a:r>
              <a:rPr lang="en-US" dirty="0"/>
              <a:t> also follow usage-based pricing, which makes this architecture affordable for both small projects and large-scale applications.</a:t>
            </a:r>
            <a:endParaRPr dirty="0"/>
          </a:p>
          <a:p>
            <a:pPr>
              <a:lnSpc>
                <a:spcPct val="150000"/>
              </a:lnSpc>
            </a:pPr>
            <a:r>
              <a:rPr u="sng" dirty="0"/>
              <a:t>Easy deployment</a:t>
            </a:r>
            <a:r>
              <a:rPr lang="en-US" u="sng" dirty="0"/>
              <a:t> </a:t>
            </a:r>
            <a:r>
              <a:rPr dirty="0"/>
              <a:t>:</a:t>
            </a:r>
            <a:r>
              <a:rPr lang="en-US" dirty="0"/>
              <a:t> Since services like </a:t>
            </a:r>
            <a:r>
              <a:rPr lang="en-US" b="1" dirty="0"/>
              <a:t>API Gateway, Lambda, DynamoDB, and S3</a:t>
            </a:r>
            <a:r>
              <a:rPr lang="en-US" dirty="0"/>
              <a:t> are fully managed by AWS, there’s no need to worry about server maintenance, patching, or scaling infrastructure. </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49959" y="1386348"/>
            <a:ext cx="3644081" cy="1293028"/>
          </a:xfrm>
        </p:spPr>
        <p:txBody>
          <a:bodyPr/>
          <a:lstStyle/>
          <a:p>
            <a:pPr algn="l"/>
            <a:r>
              <a:rPr u="sng" dirty="0"/>
              <a:t>Conclusion</a:t>
            </a:r>
          </a:p>
        </p:txBody>
      </p:sp>
      <p:sp>
        <p:nvSpPr>
          <p:cNvPr id="3" name="Content Placeholder 2"/>
          <p:cNvSpPr>
            <a:spLocks noGrp="1"/>
          </p:cNvSpPr>
          <p:nvPr>
            <p:ph idx="1"/>
          </p:nvPr>
        </p:nvSpPr>
        <p:spPr>
          <a:xfrm>
            <a:off x="747251" y="3137719"/>
            <a:ext cx="7955280" cy="4069080"/>
          </a:xfrm>
        </p:spPr>
        <p:txBody>
          <a:bodyPr/>
          <a:lstStyle/>
          <a:p>
            <a:r>
              <a:rPr dirty="0"/>
              <a:t>- Real-time cloud-based donation tracking achieved</a:t>
            </a:r>
          </a:p>
          <a:p>
            <a:r>
              <a:rPr dirty="0"/>
              <a:t>- AWS ensures robust, scalable, cost-efficient solution</a:t>
            </a:r>
          </a:p>
          <a:p>
            <a:r>
              <a:rPr dirty="0"/>
              <a:t>- Future scope: user authentication, expiry reminders, analytics dashboards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DFE9D-AD23-6C0F-CFB4-83DDC945B1DE}"/>
              </a:ext>
            </a:extLst>
          </p:cNvPr>
          <p:cNvSpPr>
            <a:spLocks noGrp="1"/>
          </p:cNvSpPr>
          <p:nvPr>
            <p:ph type="title"/>
          </p:nvPr>
        </p:nvSpPr>
        <p:spPr>
          <a:xfrm>
            <a:off x="1494366" y="613666"/>
            <a:ext cx="6377940" cy="995001"/>
          </a:xfrm>
        </p:spPr>
        <p:txBody>
          <a:bodyPr/>
          <a:lstStyle/>
          <a:p>
            <a:pPr algn="ctr"/>
            <a:r>
              <a:rPr lang="en-IN" dirty="0"/>
              <a:t>REFERENCES</a:t>
            </a:r>
          </a:p>
        </p:txBody>
      </p:sp>
      <p:sp>
        <p:nvSpPr>
          <p:cNvPr id="3" name="Content Placeholder 2">
            <a:extLst>
              <a:ext uri="{FF2B5EF4-FFF2-40B4-BE49-F238E27FC236}">
                <a16:creationId xmlns:a16="http://schemas.microsoft.com/office/drawing/2014/main" id="{B68BDC5A-B799-6EE3-7946-359E5AA22D51}"/>
              </a:ext>
            </a:extLst>
          </p:cNvPr>
          <p:cNvSpPr>
            <a:spLocks noGrp="1"/>
          </p:cNvSpPr>
          <p:nvPr>
            <p:ph idx="1"/>
          </p:nvPr>
        </p:nvSpPr>
        <p:spPr>
          <a:xfrm>
            <a:off x="594360" y="1608667"/>
            <a:ext cx="7955280" cy="4654973"/>
          </a:xfrm>
        </p:spPr>
        <p:txBody>
          <a:bodyPr>
            <a:normAutofit fontScale="55000" lnSpcReduction="20000"/>
          </a:bodyPr>
          <a:lstStyle/>
          <a:p>
            <a:r>
              <a:rPr lang="en-US" b="1" i="1" u="sng" dirty="0"/>
              <a:t>AWS Cloud Foundations Course Link:</a:t>
            </a:r>
            <a:r>
              <a:rPr lang="en-US" b="1" i="1" dirty="0"/>
              <a:t> </a:t>
            </a:r>
            <a:r>
              <a:rPr lang="en-US" i="1" u="sng" dirty="0">
                <a:hlinkClick r:id="rId2"/>
              </a:rPr>
              <a:t>https://awsacademy.instructure.com/courses/81207</a:t>
            </a:r>
            <a:r>
              <a:rPr lang="en-US" i="1" dirty="0"/>
              <a:t> </a:t>
            </a:r>
            <a:endParaRPr lang="en-IN" dirty="0"/>
          </a:p>
          <a:p>
            <a:r>
              <a:rPr lang="en-US" i="1" dirty="0"/>
              <a:t> </a:t>
            </a:r>
            <a:endParaRPr lang="en-IN" dirty="0"/>
          </a:p>
          <a:p>
            <a:r>
              <a:rPr lang="en-US" b="1" i="1" u="sng" dirty="0"/>
              <a:t>AWS Data Engineering Course Link:</a:t>
            </a:r>
            <a:r>
              <a:rPr lang="en-US" b="1" i="1" dirty="0"/>
              <a:t> </a:t>
            </a:r>
            <a:r>
              <a:rPr lang="en-US" i="1" u="sng" dirty="0">
                <a:hlinkClick r:id="rId3"/>
              </a:rPr>
              <a:t>https://awsacademy.instructure.com/courses/81208</a:t>
            </a:r>
            <a:r>
              <a:rPr lang="en-US" i="1" dirty="0"/>
              <a:t> </a:t>
            </a:r>
            <a:endParaRPr lang="en-IN" dirty="0"/>
          </a:p>
          <a:p>
            <a:r>
              <a:rPr lang="en-US" i="1" dirty="0"/>
              <a:t> </a:t>
            </a:r>
            <a:endParaRPr lang="en-IN" dirty="0"/>
          </a:p>
          <a:p>
            <a:r>
              <a:rPr lang="en-US" b="1" i="1" u="sng" dirty="0"/>
              <a:t>AWS Lambda:</a:t>
            </a:r>
            <a:endParaRPr lang="en-IN" dirty="0"/>
          </a:p>
          <a:p>
            <a:r>
              <a:rPr lang="en-US" i="1" u="sng" dirty="0">
                <a:hlinkClick r:id="rId4"/>
              </a:rPr>
              <a:t>https://docs.aws.amazon.com/lambda/latest/dg/welcome.html</a:t>
            </a:r>
            <a:endParaRPr lang="en-IN" dirty="0"/>
          </a:p>
          <a:p>
            <a:r>
              <a:rPr lang="en-US" i="1" dirty="0"/>
              <a:t> </a:t>
            </a:r>
            <a:endParaRPr lang="en-IN" dirty="0"/>
          </a:p>
          <a:p>
            <a:r>
              <a:rPr lang="en-US" b="1" i="1" u="sng" dirty="0"/>
              <a:t>Amazon DynamoDB:</a:t>
            </a:r>
            <a:endParaRPr lang="en-IN" b="1" i="1" u="sng" dirty="0"/>
          </a:p>
          <a:p>
            <a:r>
              <a:rPr lang="en-US" i="1" u="sng" dirty="0">
                <a:hlinkClick r:id="rId5"/>
              </a:rPr>
              <a:t>https://docs.aws.amazon.com/amazondynamodb/latest/developerguide/Introduction.html</a:t>
            </a:r>
            <a:endParaRPr lang="en-IN" dirty="0"/>
          </a:p>
          <a:p>
            <a:r>
              <a:rPr lang="en-US" i="1" dirty="0"/>
              <a:t> </a:t>
            </a:r>
            <a:endParaRPr lang="en-IN" dirty="0"/>
          </a:p>
          <a:p>
            <a:r>
              <a:rPr lang="en-US" b="1" i="1" u="sng" dirty="0"/>
              <a:t> Amazon S3:</a:t>
            </a:r>
            <a:endParaRPr lang="en-IN" b="1" i="1" u="sng" dirty="0"/>
          </a:p>
          <a:p>
            <a:r>
              <a:rPr lang="en-US" i="1" u="sng" dirty="0">
                <a:hlinkClick r:id="rId6"/>
              </a:rPr>
              <a:t>https://docs.aws.amazon.com/AmazonS3/latest/userguide/Welcome.html</a:t>
            </a:r>
            <a:endParaRPr lang="en-IN" dirty="0"/>
          </a:p>
          <a:p>
            <a:r>
              <a:rPr lang="en-US" i="1" dirty="0"/>
              <a:t> </a:t>
            </a:r>
            <a:endParaRPr lang="en-IN" dirty="0"/>
          </a:p>
          <a:p>
            <a:r>
              <a:rPr lang="en-US" b="1" i="1" u="sng" dirty="0"/>
              <a:t> Amazon API Gateway:</a:t>
            </a:r>
            <a:endParaRPr lang="en-IN" b="1" i="1" u="sng" dirty="0"/>
          </a:p>
          <a:p>
            <a:r>
              <a:rPr lang="en-US" i="1" u="sng" dirty="0">
                <a:hlinkClick r:id="rId7"/>
              </a:rPr>
              <a:t>https://docs.aws.amazon.com/apigateway/latest/developerguide/welcome.html</a:t>
            </a:r>
            <a:endParaRPr lang="en-IN" dirty="0"/>
          </a:p>
          <a:p>
            <a:r>
              <a:rPr lang="en-US" i="1" dirty="0"/>
              <a:t> </a:t>
            </a:r>
            <a:endParaRPr lang="en-IN" dirty="0"/>
          </a:p>
          <a:p>
            <a:r>
              <a:rPr lang="en-US" b="1" i="1" u="sng" dirty="0"/>
              <a:t>AWS Identity and Access Management (IAM):</a:t>
            </a:r>
            <a:endParaRPr lang="en-IN" b="1" i="1" u="sng" dirty="0"/>
          </a:p>
          <a:p>
            <a:r>
              <a:rPr lang="en-US" i="1" u="sng" dirty="0">
                <a:hlinkClick r:id="rId8"/>
              </a:rPr>
              <a:t>https://docs.aws.amazon.com/IAM/latest/UserGuide/introduction.html</a:t>
            </a:r>
            <a:endParaRPr lang="en-IN" dirty="0"/>
          </a:p>
          <a:p>
            <a:endParaRPr lang="en-IN" dirty="0"/>
          </a:p>
        </p:txBody>
      </p:sp>
    </p:spTree>
    <p:extLst>
      <p:ext uri="{BB962C8B-B14F-4D97-AF65-F5344CB8AC3E}">
        <p14:creationId xmlns:p14="http://schemas.microsoft.com/office/powerpoint/2010/main" val="1029437341"/>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TM04033937[[fn=Vapor Trail]]</Template>
  <TotalTime>206</TotalTime>
  <Words>1177</Words>
  <Application>Microsoft Office PowerPoint</Application>
  <PresentationFormat>On-screen Show (4:3)</PresentationFormat>
  <Paragraphs>146</Paragraphs>
  <Slides>18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Arial</vt:lpstr>
      <vt:lpstr>Calibri</vt:lpstr>
      <vt:lpstr>Century Gothic</vt:lpstr>
      <vt:lpstr>Courier New</vt:lpstr>
      <vt:lpstr>Vapor Trail</vt:lpstr>
      <vt:lpstr>PowerPoint Presentation</vt:lpstr>
      <vt:lpstr>PowerPoint Presentation</vt:lpstr>
      <vt:lpstr>AWS CLOUD FOUNDATION</vt:lpstr>
      <vt:lpstr>AWS DATA ENGINEERING</vt:lpstr>
      <vt:lpstr>Case Study: Cloud-Based Food Donation Tracking System using AWS</vt:lpstr>
      <vt:lpstr>Aim &amp; Objectives</vt:lpstr>
      <vt:lpstr>System Architecture</vt:lpstr>
      <vt:lpstr>Key AWS Services</vt:lpstr>
      <vt:lpstr>Task-1: Setting up DynamoDB</vt:lpstr>
      <vt:lpstr>Task-2: Creating the Lambda Functions &amp; API Gateway </vt:lpstr>
      <vt:lpstr>PowerPoint Presentation</vt:lpstr>
      <vt:lpstr>PowerPoint Presentation</vt:lpstr>
      <vt:lpstr>Task-3: Hosting the Website oN Amazon S3 </vt:lpstr>
      <vt:lpstr>PowerPoint Presentation</vt:lpstr>
      <vt:lpstr>PowerPoint Presentation</vt:lpstr>
      <vt:lpstr>Benefits of AWS</vt:lpstr>
      <vt:lpstr>Conclusion</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Mulagada Vamsi</dc:creator>
  <cp:keywords/>
  <dc:description>generated using python-pptx</dc:description>
  <cp:lastModifiedBy>Mulagada Vamsi</cp:lastModifiedBy>
  <cp:revision>5</cp:revision>
  <dcterms:created xsi:type="dcterms:W3CDTF">2013-01-27T09:14:16Z</dcterms:created>
  <dcterms:modified xsi:type="dcterms:W3CDTF">2025-08-30T14:25:40Z</dcterms:modified>
  <cp:category/>
</cp:coreProperties>
</file>